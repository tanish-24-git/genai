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21"/>
  </p:notesMasterIdLst>
  <p:sldIdLst>
    <p:sldId id="256" r:id="rId2"/>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7"/>
    <p:sldId id="271" r:id="rId6"/>
    <p:sldId id="272" r:id="rId5"/>
  </p:sldIdLst>
  <p:sldSz cx="12192000" cy="6858000"/>
  <p:notesSz cx="12192000" cy="6858000"/>
  <p:defaultTextStyle>
    <a:defPPr marR="0" lvl="0" algn="l">
      <a:lnSpc>
        <a:spcPct val="100000"/>
      </a:lnSpc>
      <a:spcBef>
        <a:spcPts val="0"/>
      </a:spcBef>
      <a:spcAft>
        <a:spcPts val="0"/>
      </a:spcAft>
    </a:defPPr>
    <a:lvl1pPr marR="0" lvl="0"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1pPr>
    <a:lvl2pPr marR="0" lvl="1"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2pPr>
    <a:lvl3pPr marR="0" lvl="2"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3pPr>
    <a:lvl4pPr marR="0" lvl="3"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4pPr>
    <a:lvl5pPr marR="0" lvl="4"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5pPr>
    <a:lvl6pPr marR="0" lvl="5"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6pPr>
    <a:lvl7pPr marR="0" lvl="6"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7pPr>
    <a:lvl8pPr marR="0" lvl="7"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8pPr>
    <a:lvl9pPr marR="0" lvl="8"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a:solidFill>
                <a:schemeClr val="lt1"/>
              </a:solidFill>
            </a:ln>
          </a:left>
          <a:right>
            <a:ln w="12700">
              <a:solidFill>
                <a:schemeClr val="lt1"/>
              </a:solidFill>
            </a:ln>
          </a:right>
          <a:top>
            <a:ln w="12700">
              <a:solidFill>
                <a:schemeClr val="lt1"/>
              </a:solidFill>
            </a:ln>
          </a:top>
          <a:bottom>
            <a:ln w="12700">
              <a:solidFill>
                <a:schemeClr val="lt1"/>
              </a:solidFill>
            </a:ln>
          </a:bottom>
          <a:insideH>
            <a:ln w="12700">
              <a:solidFill>
                <a:schemeClr val="lt1"/>
              </a:solidFill>
            </a:ln>
          </a:insideH>
          <a:insideV>
            <a:ln w="12700">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fill>
          <a:solidFill>
            <a:schemeClr val="accent1">
              <a:tint val="40000"/>
            </a:schemeClr>
          </a:solidFill>
        </a:fill>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a:solidFill>
                <a:schemeClr val="lt1"/>
              </a:solidFill>
            </a:ln>
          </a:top>
        </a:tcBdr>
        <a:fill>
          <a:solidFill>
            <a:schemeClr val="accent1"/>
          </a:solidFill>
        </a:fill>
      </a:tcStyle>
    </a:lastRow>
    <a:seCell>
      <a:tcStyle>
        <a:tcBdr/>
      </a:tcStyle>
    </a:seCell>
    <a:swCell>
      <a:tcStyle>
        <a:tcBdr/>
      </a:tcStyle>
    </a:swCell>
    <a:firstRow>
      <a:tcTxStyle b="on">
        <a:fontRef idx="minor">
          <a:prstClr val="black"/>
        </a:fontRef>
        <a:schemeClr val="lt1"/>
      </a:tcTxStyle>
      <a:tcStyle>
        <a:tcBdr>
          <a:bottom>
            <a:ln w="38100">
              <a:solidFill>
                <a:schemeClr val="lt1"/>
              </a:solidFill>
            </a:ln>
          </a:bottom>
        </a:tcBdr>
        <a:fill>
          <a:solidFill>
            <a:schemeClr val="accent1"/>
          </a:solidFill>
        </a:fill>
      </a:tcStyle>
    </a:firstRow>
    <a:neCell>
      <a:tcStyle>
        <a:tcBdr/>
      </a:tcStyle>
    </a:neCell>
    <a:nwCell>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1" d="100"/>
          <a:sy n="81" d="100"/>
        </p:scale>
        <p:origin x="84" y="460"/>
      </p:cViewPr>
      <p:guideLst>
        <p:guide orient="horz" pos="2880"/>
        <p:guide pos="216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5" Type="http://schemas.openxmlformats.org/officeDocument/2006/relationships/slide" Target="slides/slide17.xml"/><Relationship Id="rId6" Type="http://schemas.openxmlformats.org/officeDocument/2006/relationships/slide" Target="slides/slide16.xml"/><Relationship Id="rId7" Type="http://schemas.openxmlformats.org/officeDocument/2006/relationships/slide" Target="slides/slide15.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bwMode="auto">
        <a:xfrm>
          <a:off x="0" y="0"/>
          <a:ext cx="0" cy="0"/>
          <a:chOff x="0" y="0"/>
          <a:chExt cx="0" cy="0"/>
        </a:xfrm>
      </p:grpSpPr>
      <p:sp>
        <p:nvSpPr>
          <p:cNvPr id="3" name="Google Shape;3;n"/>
          <p:cNvSpPr>
            <a:spLocks noGrp="1" noRot="1" noChangeAspect="1"/>
          </p:cNvSpPr>
          <p:nvPr>
            <p:ph type="sldImg" idx="2"/>
          </p:nvPr>
        </p:nvSpPr>
        <p:spPr bwMode="auto">
          <a:xfrm>
            <a:off x="2032400" y="514350"/>
            <a:ext cx="8128400"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bwMode="auto">
          <a:xfrm>
            <a:off x="1219200" y="3257550"/>
            <a:ext cx="9753600" cy="3086100"/>
          </a:xfrm>
          <a:prstGeom prst="rect">
            <a:avLst/>
          </a:prstGeom>
          <a:noFill/>
          <a:ln>
            <a:noFill/>
          </a:ln>
        </p:spPr>
        <p:txBody>
          <a:bodyPr spcFirstLastPara="1" wrap="square" lIns="91425" tIns="91425" rIns="91425" bIns="91425" anchor="t" anchorCtr="0">
            <a:noAutofit/>
          </a:bodyPr>
          <a:lstStyle>
            <a:lvl1pPr marL="457200" marR="0" lvl="0" indent="-298450" algn="l">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defRPr>
            </a:lvl1pPr>
            <a:lvl2pPr marL="914400" marR="0" lvl="1" indent="-298450" algn="l">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defRPr>
            </a:lvl2pPr>
            <a:lvl3pPr marL="1371600" marR="0" lvl="2" indent="-298450" algn="l">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defRPr>
            </a:lvl3pPr>
            <a:lvl4pPr marL="1828800" marR="0" lvl="3" indent="-298450" algn="l">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defRPr>
            </a:lvl4pPr>
            <a:lvl5pPr marL="2286000" marR="0" lvl="4" indent="-298450" algn="l">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defRPr>
            </a:lvl5pPr>
            <a:lvl6pPr marL="2743200" marR="0" lvl="5" indent="-298450" algn="l">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defRPr>
            </a:lvl6pPr>
            <a:lvl7pPr marL="3200400" marR="0" lvl="6" indent="-298450" algn="l">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defRPr>
            </a:lvl7pPr>
            <a:lvl8pPr marL="3657600" marR="0" lvl="7" indent="-298450" algn="l">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defRPr>
            </a:lvl8pPr>
            <a:lvl9pPr marL="4114800" marR="0" lvl="8" indent="-298450" algn="l">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defRPr>
            </a:lvl9pPr>
          </a:lstStyle>
          <a:p>
            <a:pPr>
              <a:defRPr/>
            </a:pPr>
            <a:endParaRPr/>
          </a:p>
        </p:txBody>
      </p:sp>
    </p:spTree>
  </p:cSld>
  <p:clrMap bg1="lt1" tx1="dk1" bg2="dk2" tx2="lt2" accent1="accent1" accent2="accent2" accent3="accent3" accent4="accent4" accent5="accent5" accent6="accent6" hlink="hlink" folHlink="folHlink"/>
  <p:notesStyle>
    <a:defPPr marR="0" lvl="0" algn="l">
      <a:lnSpc>
        <a:spcPct val="100000"/>
      </a:lnSpc>
      <a:spcBef>
        <a:spcPts val="0"/>
      </a:spcBef>
      <a:spcAft>
        <a:spcPts val="0"/>
      </a:spcAft>
    </a:defPPr>
    <a:lvl1pPr marR="0" lvl="0"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1pPr>
    <a:lvl2pPr marR="0" lvl="1"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2pPr>
    <a:lvl3pPr marR="0" lvl="2"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3pPr>
    <a:lvl4pPr marR="0" lvl="3"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4pPr>
    <a:lvl5pPr marR="0" lvl="4"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5pPr>
    <a:lvl6pPr marR="0" lvl="5"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6pPr>
    <a:lvl7pPr marR="0" lvl="6"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7pPr>
    <a:lvl8pPr marR="0" lvl="7"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8pPr>
    <a:lvl9pPr marR="0" lvl="8"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bwMode="auto">
        <a:xfrm>
          <a:off x="0" y="0"/>
          <a:ext cx="0" cy="0"/>
          <a:chOff x="0" y="0"/>
          <a:chExt cx="0" cy="0"/>
        </a:xfrm>
      </p:grpSpPr>
      <p:sp>
        <p:nvSpPr>
          <p:cNvPr id="43" name="Google Shape;43;p1:notes"/>
          <p:cNvSpPr txBox="1">
            <a:spLocks noGrp="1"/>
          </p:cNvSpPr>
          <p:nvPr>
            <p:ph type="body" idx="1"/>
          </p:nvPr>
        </p:nvSpPr>
        <p:spPr bwMode="auto">
          <a:xfrm>
            <a:off x="1219200" y="3257550"/>
            <a:ext cx="9753600" cy="3086100"/>
          </a:xfrm>
          <a:prstGeom prst="rect">
            <a:avLst/>
          </a:prstGeom>
          <a:noFill/>
          <a:ln>
            <a:noFill/>
          </a:ln>
        </p:spPr>
        <p:txBody>
          <a:bodyPr spcFirstLastPara="1" wrap="square" lIns="91425" tIns="91425" rIns="91425" bIns="91425" anchor="t" anchorCtr="0">
            <a:noAutofit/>
          </a:bodyPr>
          <a:lstStyle/>
          <a:p>
            <a:pPr marL="0" lvl="0" indent="0" algn="l">
              <a:lnSpc>
                <a:spcPct val="100000"/>
              </a:lnSpc>
              <a:spcBef>
                <a:spcPts val="0"/>
              </a:spcBef>
              <a:spcAft>
                <a:spcPts val="0"/>
              </a:spcAft>
              <a:buSzPts val="1100"/>
              <a:buNone/>
              <a:defRPr/>
            </a:pPr>
            <a:endParaRPr/>
          </a:p>
        </p:txBody>
      </p:sp>
      <p:sp>
        <p:nvSpPr>
          <p:cNvPr id="44" name="Google Shape;44;p1:notes"/>
          <p:cNvSpPr>
            <a:spLocks noGrp="1" noRot="1" noChangeAspect="1"/>
          </p:cNvSpPr>
          <p:nvPr>
            <p:ph type="sldImg" idx="2"/>
          </p:nvPr>
        </p:nvSpPr>
        <p:spPr bwMode="auto">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PhAnim="0" matchingName="Title and Content" type="obj" userDrawn="1">
  <p:cSld name="OBJECT">
    <p:spTree>
      <p:nvGrpSpPr>
        <p:cNvPr id="1" name=""/>
        <p:cNvGrpSpPr/>
        <p:nvPr/>
      </p:nvGrpSpPr>
      <p:grpSpPr bwMode="auto">
        <a:xfrm>
          <a:off x="0" y="0"/>
          <a:ext cx="0" cy="0"/>
          <a:chOff x="0" y="0"/>
          <a:chExt cx="0" cy="0"/>
        </a:xfrm>
      </p:grpSpPr>
      <p:sp>
        <p:nvSpPr>
          <p:cNvPr id="14" name="Google Shape;14;p14"/>
          <p:cNvSpPr txBox="1">
            <a:spLocks noGrp="1"/>
          </p:cNvSpPr>
          <p:nvPr>
            <p:ph type="title"/>
          </p:nvPr>
        </p:nvSpPr>
        <p:spPr bwMode="auto">
          <a:xfrm>
            <a:off x="4170425" y="3116021"/>
            <a:ext cx="3851148" cy="940435"/>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sz="6000" b="1" i="0">
                <a:solidFill>
                  <a:srgbClr val="001F5F"/>
                </a:solidFill>
                <a:latin typeface="Arial"/>
                <a:ea typeface="Arial"/>
                <a:cs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pPr>
              <a:defRPr/>
            </a:pPr>
            <a:endParaRPr/>
          </a:p>
        </p:txBody>
      </p:sp>
      <p:sp>
        <p:nvSpPr>
          <p:cNvPr id="15" name="Google Shape;15;p14"/>
          <p:cNvSpPr txBox="1">
            <a:spLocks noGrp="1"/>
          </p:cNvSpPr>
          <p:nvPr>
            <p:ph type="body" idx="1"/>
          </p:nvPr>
        </p:nvSpPr>
        <p:spPr bwMode="auto">
          <a:xfrm>
            <a:off x="1895983" y="2339085"/>
            <a:ext cx="8400033" cy="2074545"/>
          </a:xfrm>
          <a:prstGeom prst="rect">
            <a:avLst/>
          </a:prstGeom>
          <a:noFill/>
          <a:ln>
            <a:noFill/>
          </a:ln>
        </p:spPr>
        <p:txBody>
          <a:bodyPr spcFirstLastPara="1" wrap="square" lIns="0" tIns="0" rIns="0" bIns="0" anchor="t" anchorCtr="0">
            <a:spAutoFit/>
          </a:bodyPr>
          <a:lstStyle>
            <a:lvl1pPr marL="457200" lvl="0" indent="-228600" algn="l">
              <a:lnSpc>
                <a:spcPct val="100000"/>
              </a:lnSpc>
              <a:spcBef>
                <a:spcPts val="0"/>
              </a:spcBef>
              <a:spcAft>
                <a:spcPts val="0"/>
              </a:spcAft>
              <a:buSzPts val="1400"/>
              <a:buNone/>
              <a:defRPr sz="4800" b="1" i="0">
                <a:solidFill>
                  <a:srgbClr val="FF0000"/>
                </a:solidFill>
                <a:latin typeface="Arial"/>
                <a:ea typeface="Arial"/>
                <a:cs typeface="Arial"/>
              </a:defRPr>
            </a:lvl1pPr>
            <a:lvl2pPr marL="914400" lvl="1" indent="-228600" algn="l">
              <a:lnSpc>
                <a:spcPct val="100000"/>
              </a:lnSpc>
              <a:spcBef>
                <a:spcPts val="0"/>
              </a:spcBef>
              <a:spcAft>
                <a:spcPts val="0"/>
              </a:spcAft>
              <a:buSzPts val="1400"/>
              <a:buNone/>
              <a:defRPr/>
            </a:lvl2pPr>
            <a:lvl3pPr marL="1371600" lvl="2" indent="-228600" algn="l">
              <a:lnSpc>
                <a:spcPct val="100000"/>
              </a:lnSpc>
              <a:spcBef>
                <a:spcPts val="0"/>
              </a:spcBef>
              <a:spcAft>
                <a:spcPts val="0"/>
              </a:spcAft>
              <a:buSzPts val="1400"/>
              <a:buNone/>
              <a:defRPr/>
            </a:lvl3pPr>
            <a:lvl4pPr marL="1828800" lvl="3" indent="-228600" algn="l">
              <a:lnSpc>
                <a:spcPct val="100000"/>
              </a:lnSpc>
              <a:spcBef>
                <a:spcPts val="0"/>
              </a:spcBef>
              <a:spcAft>
                <a:spcPts val="0"/>
              </a:spcAft>
              <a:buSzPts val="1400"/>
              <a:buNone/>
              <a:defRPr/>
            </a:lvl4pPr>
            <a:lvl5pPr marL="2286000" lvl="4" indent="-228600" algn="l">
              <a:lnSpc>
                <a:spcPct val="100000"/>
              </a:lnSpc>
              <a:spcBef>
                <a:spcPts val="0"/>
              </a:spcBef>
              <a:spcAft>
                <a:spcPts val="0"/>
              </a:spcAft>
              <a:buSzPts val="1400"/>
              <a:buNone/>
              <a:defRPr/>
            </a:lvl5pPr>
            <a:lvl6pPr marL="2743200" lvl="5" indent="-228600" algn="l">
              <a:lnSpc>
                <a:spcPct val="100000"/>
              </a:lnSpc>
              <a:spcBef>
                <a:spcPts val="0"/>
              </a:spcBef>
              <a:spcAft>
                <a:spcPts val="0"/>
              </a:spcAft>
              <a:buSzPts val="1400"/>
              <a:buNone/>
              <a:defRPr/>
            </a:lvl6pPr>
            <a:lvl7pPr marL="3200400" lvl="6" indent="-228600" algn="l">
              <a:lnSpc>
                <a:spcPct val="100000"/>
              </a:lnSpc>
              <a:spcBef>
                <a:spcPts val="0"/>
              </a:spcBef>
              <a:spcAft>
                <a:spcPts val="0"/>
              </a:spcAft>
              <a:buSzPts val="1400"/>
              <a:buNone/>
              <a:defRPr/>
            </a:lvl7pPr>
            <a:lvl8pPr marL="3657600" lvl="7" indent="-228600" algn="l">
              <a:lnSpc>
                <a:spcPct val="100000"/>
              </a:lnSpc>
              <a:spcBef>
                <a:spcPts val="0"/>
              </a:spcBef>
              <a:spcAft>
                <a:spcPts val="0"/>
              </a:spcAft>
              <a:buSzPts val="1400"/>
              <a:buNone/>
              <a:defRPr/>
            </a:lvl8pPr>
            <a:lvl9pPr marL="4114800" lvl="8" indent="-228600" algn="l">
              <a:lnSpc>
                <a:spcPct val="100000"/>
              </a:lnSpc>
              <a:spcBef>
                <a:spcPts val="0"/>
              </a:spcBef>
              <a:spcAft>
                <a:spcPts val="0"/>
              </a:spcAft>
              <a:buSzPts val="1400"/>
              <a:buNone/>
              <a:defRPr/>
            </a:lvl9pPr>
          </a:lstStyle>
          <a:p>
            <a:pPr>
              <a:defRPr/>
            </a:pPr>
            <a:endParaRPr/>
          </a:p>
        </p:txBody>
      </p:sp>
      <p:sp>
        <p:nvSpPr>
          <p:cNvPr id="16" name="Google Shape;16;p14"/>
          <p:cNvSpPr txBox="1">
            <a:spLocks noGrp="1"/>
          </p:cNvSpPr>
          <p:nvPr>
            <p:ph type="ftr" idx="11"/>
          </p:nvPr>
        </p:nvSpPr>
        <p:spPr bwMode="auto">
          <a:xfrm>
            <a:off x="4145280" y="6377940"/>
            <a:ext cx="3901440" cy="342900"/>
          </a:xfrm>
          <a:prstGeom prst="rect">
            <a:avLst/>
          </a:prstGeom>
          <a:noFill/>
          <a:ln>
            <a:noFill/>
          </a:ln>
        </p:spPr>
        <p:txBody>
          <a:bodyPr spcFirstLastPara="1" wrap="square" lIns="0" tIns="0" rIns="0" bIns="0" anchor="t" anchorCtr="0">
            <a:spAutoFit/>
          </a:bodyPr>
          <a:lstStyle>
            <a:lvl1pPr lvl="0" algn="ctr">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pPr>
              <a:defRPr/>
            </a:pPr>
            <a:endParaRPr/>
          </a:p>
        </p:txBody>
      </p:sp>
      <p:sp>
        <p:nvSpPr>
          <p:cNvPr id="17" name="Google Shape;17;p14"/>
          <p:cNvSpPr txBox="1">
            <a:spLocks noGrp="1"/>
          </p:cNvSpPr>
          <p:nvPr>
            <p:ph type="dt" idx="10"/>
          </p:nvPr>
        </p:nvSpPr>
        <p:spPr bwMode="auto">
          <a:xfrm>
            <a:off x="609600" y="6377940"/>
            <a:ext cx="2804160" cy="342900"/>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pPr>
              <a:defRPr/>
            </a:pPr>
            <a:endParaRPr/>
          </a:p>
        </p:txBody>
      </p:sp>
      <p:sp>
        <p:nvSpPr>
          <p:cNvPr id="18" name="Google Shape;18;p14"/>
          <p:cNvSpPr txBox="1">
            <a:spLocks noGrp="1"/>
          </p:cNvSpPr>
          <p:nvPr>
            <p:ph type="sldNum" idx="12"/>
          </p:nvPr>
        </p:nvSpPr>
        <p:spPr bwMode="auto">
          <a:xfrm>
            <a:off x="11690350" y="6579819"/>
            <a:ext cx="229870" cy="177800"/>
          </a:xfrm>
          <a:prstGeom prst="rect">
            <a:avLst/>
          </a:prstGeom>
          <a:noFill/>
          <a:ln>
            <a:noFill/>
          </a:ln>
        </p:spPr>
        <p:txBody>
          <a:bodyPr spcFirstLastPara="1" wrap="square" lIns="0" tIns="0" rIns="0" bIns="0" anchor="t" anchorCtr="0">
            <a:spAutoFit/>
          </a:bodyPr>
          <a:lstStyle>
            <a:lvl1pPr marL="38100" marR="0" lvl="0" indent="0" algn="l">
              <a:lnSpc>
                <a:spcPct val="103333"/>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1pPr>
            <a:lvl2pPr marL="38100" marR="0" lvl="1" indent="0" algn="l">
              <a:lnSpc>
                <a:spcPct val="103333"/>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2pPr>
            <a:lvl3pPr marL="38100" marR="0" lvl="2" indent="0" algn="l">
              <a:lnSpc>
                <a:spcPct val="103333"/>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3pPr>
            <a:lvl4pPr marL="38100" marR="0" lvl="3" indent="0" algn="l">
              <a:lnSpc>
                <a:spcPct val="103333"/>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4pPr>
            <a:lvl5pPr marL="38100" marR="0" lvl="4" indent="0" algn="l">
              <a:lnSpc>
                <a:spcPct val="103333"/>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5pPr>
            <a:lvl6pPr marL="38100" marR="0" lvl="5" indent="0" algn="l">
              <a:lnSpc>
                <a:spcPct val="103333"/>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6pPr>
            <a:lvl7pPr marL="38100" marR="0" lvl="6" indent="0" algn="l">
              <a:lnSpc>
                <a:spcPct val="103333"/>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7pPr>
            <a:lvl8pPr marL="38100" marR="0" lvl="7" indent="0" algn="l">
              <a:lnSpc>
                <a:spcPct val="103333"/>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8pPr>
            <a:lvl9pPr marL="38100" marR="0" lvl="8" indent="0" algn="l">
              <a:lnSpc>
                <a:spcPct val="103333"/>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9pPr>
          </a:lstStyle>
          <a:p>
            <a:pPr marL="38100" lvl="0" indent="0" algn="l">
              <a:spcBef>
                <a:spcPts val="0"/>
              </a:spcBef>
              <a:spcAft>
                <a:spcPts val="0"/>
              </a:spcAft>
              <a:buNone/>
              <a:defRPr/>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PhAnim="0" matchingName="Two Content" userDrawn="1">
  <p:cSld name="Two Content">
    <p:spTree>
      <p:nvGrpSpPr>
        <p:cNvPr id="1" name=""/>
        <p:cNvGrpSpPr/>
        <p:nvPr/>
      </p:nvGrpSpPr>
      <p:grpSpPr bwMode="auto">
        <a:xfrm>
          <a:off x="0" y="0"/>
          <a:ext cx="0" cy="0"/>
          <a:chOff x="0" y="0"/>
          <a:chExt cx="0" cy="0"/>
        </a:xfrm>
      </p:grpSpPr>
      <p:sp>
        <p:nvSpPr>
          <p:cNvPr id="36" name="Google Shape;36;p17"/>
          <p:cNvSpPr txBox="1">
            <a:spLocks noGrp="1"/>
          </p:cNvSpPr>
          <p:nvPr>
            <p:ph type="title"/>
          </p:nvPr>
        </p:nvSpPr>
        <p:spPr bwMode="auto">
          <a:xfrm>
            <a:off x="4170425" y="3116021"/>
            <a:ext cx="3851148" cy="940435"/>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sz="6000" b="1" i="0">
                <a:solidFill>
                  <a:srgbClr val="001F5F"/>
                </a:solidFill>
                <a:latin typeface="Arial"/>
                <a:ea typeface="Arial"/>
                <a:cs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pPr>
              <a:defRPr/>
            </a:pPr>
            <a:endParaRPr/>
          </a:p>
        </p:txBody>
      </p:sp>
      <p:sp>
        <p:nvSpPr>
          <p:cNvPr id="37" name="Google Shape;37;p17"/>
          <p:cNvSpPr txBox="1">
            <a:spLocks noGrp="1"/>
          </p:cNvSpPr>
          <p:nvPr>
            <p:ph type="body" idx="1"/>
          </p:nvPr>
        </p:nvSpPr>
        <p:spPr bwMode="auto">
          <a:xfrm>
            <a:off x="609600" y="1577340"/>
            <a:ext cx="5303520" cy="4526280"/>
          </a:xfrm>
          <a:prstGeom prst="rect">
            <a:avLst/>
          </a:prstGeom>
          <a:noFill/>
          <a:ln>
            <a:noFill/>
          </a:ln>
        </p:spPr>
        <p:txBody>
          <a:bodyPr spcFirstLastPara="1" wrap="square" lIns="0" tIns="0" rIns="0" bIns="0" anchor="t" anchorCtr="0">
            <a:spAutoFit/>
          </a:bodyPr>
          <a:lstStyle>
            <a:lvl1pPr marL="457200" lvl="0" indent="-228600" algn="l">
              <a:lnSpc>
                <a:spcPct val="100000"/>
              </a:lnSpc>
              <a:spcBef>
                <a:spcPts val="0"/>
              </a:spcBef>
              <a:spcAft>
                <a:spcPts val="0"/>
              </a:spcAft>
              <a:buSzPts val="1400"/>
              <a:buNone/>
              <a:defRPr/>
            </a:lvl1pPr>
            <a:lvl2pPr marL="914400" lvl="1" indent="-228600" algn="l">
              <a:lnSpc>
                <a:spcPct val="100000"/>
              </a:lnSpc>
              <a:spcBef>
                <a:spcPts val="0"/>
              </a:spcBef>
              <a:spcAft>
                <a:spcPts val="0"/>
              </a:spcAft>
              <a:buSzPts val="1400"/>
              <a:buNone/>
              <a:defRPr/>
            </a:lvl2pPr>
            <a:lvl3pPr marL="1371600" lvl="2" indent="-228600" algn="l">
              <a:lnSpc>
                <a:spcPct val="100000"/>
              </a:lnSpc>
              <a:spcBef>
                <a:spcPts val="0"/>
              </a:spcBef>
              <a:spcAft>
                <a:spcPts val="0"/>
              </a:spcAft>
              <a:buSzPts val="1400"/>
              <a:buNone/>
              <a:defRPr/>
            </a:lvl3pPr>
            <a:lvl4pPr marL="1828800" lvl="3" indent="-228600" algn="l">
              <a:lnSpc>
                <a:spcPct val="100000"/>
              </a:lnSpc>
              <a:spcBef>
                <a:spcPts val="0"/>
              </a:spcBef>
              <a:spcAft>
                <a:spcPts val="0"/>
              </a:spcAft>
              <a:buSzPts val="1400"/>
              <a:buNone/>
              <a:defRPr/>
            </a:lvl4pPr>
            <a:lvl5pPr marL="2286000" lvl="4" indent="-228600" algn="l">
              <a:lnSpc>
                <a:spcPct val="100000"/>
              </a:lnSpc>
              <a:spcBef>
                <a:spcPts val="0"/>
              </a:spcBef>
              <a:spcAft>
                <a:spcPts val="0"/>
              </a:spcAft>
              <a:buSzPts val="1400"/>
              <a:buNone/>
              <a:defRPr/>
            </a:lvl5pPr>
            <a:lvl6pPr marL="2743200" lvl="5" indent="-228600" algn="l">
              <a:lnSpc>
                <a:spcPct val="100000"/>
              </a:lnSpc>
              <a:spcBef>
                <a:spcPts val="0"/>
              </a:spcBef>
              <a:spcAft>
                <a:spcPts val="0"/>
              </a:spcAft>
              <a:buSzPts val="1400"/>
              <a:buNone/>
              <a:defRPr/>
            </a:lvl6pPr>
            <a:lvl7pPr marL="3200400" lvl="6" indent="-228600" algn="l">
              <a:lnSpc>
                <a:spcPct val="100000"/>
              </a:lnSpc>
              <a:spcBef>
                <a:spcPts val="0"/>
              </a:spcBef>
              <a:spcAft>
                <a:spcPts val="0"/>
              </a:spcAft>
              <a:buSzPts val="1400"/>
              <a:buNone/>
              <a:defRPr/>
            </a:lvl7pPr>
            <a:lvl8pPr marL="3657600" lvl="7" indent="-228600" algn="l">
              <a:lnSpc>
                <a:spcPct val="100000"/>
              </a:lnSpc>
              <a:spcBef>
                <a:spcPts val="0"/>
              </a:spcBef>
              <a:spcAft>
                <a:spcPts val="0"/>
              </a:spcAft>
              <a:buSzPts val="1400"/>
              <a:buNone/>
              <a:defRPr/>
            </a:lvl8pPr>
            <a:lvl9pPr marL="4114800" lvl="8" indent="-228600" algn="l">
              <a:lnSpc>
                <a:spcPct val="100000"/>
              </a:lnSpc>
              <a:spcBef>
                <a:spcPts val="0"/>
              </a:spcBef>
              <a:spcAft>
                <a:spcPts val="0"/>
              </a:spcAft>
              <a:buSzPts val="1400"/>
              <a:buNone/>
              <a:defRPr/>
            </a:lvl9pPr>
          </a:lstStyle>
          <a:p>
            <a:pPr>
              <a:defRPr/>
            </a:pPr>
            <a:endParaRPr/>
          </a:p>
        </p:txBody>
      </p:sp>
      <p:sp>
        <p:nvSpPr>
          <p:cNvPr id="38" name="Google Shape;38;p17"/>
          <p:cNvSpPr txBox="1">
            <a:spLocks noGrp="1"/>
          </p:cNvSpPr>
          <p:nvPr>
            <p:ph type="body" idx="2"/>
          </p:nvPr>
        </p:nvSpPr>
        <p:spPr bwMode="auto">
          <a:xfrm>
            <a:off x="6278880" y="1577340"/>
            <a:ext cx="5303520" cy="4526280"/>
          </a:xfrm>
          <a:prstGeom prst="rect">
            <a:avLst/>
          </a:prstGeom>
          <a:noFill/>
          <a:ln>
            <a:noFill/>
          </a:ln>
        </p:spPr>
        <p:txBody>
          <a:bodyPr spcFirstLastPara="1" wrap="square" lIns="0" tIns="0" rIns="0" bIns="0" anchor="t" anchorCtr="0">
            <a:spAutoFit/>
          </a:bodyPr>
          <a:lstStyle>
            <a:lvl1pPr marL="457200" lvl="0" indent="-228600" algn="l">
              <a:lnSpc>
                <a:spcPct val="100000"/>
              </a:lnSpc>
              <a:spcBef>
                <a:spcPts val="0"/>
              </a:spcBef>
              <a:spcAft>
                <a:spcPts val="0"/>
              </a:spcAft>
              <a:buSzPts val="1400"/>
              <a:buNone/>
              <a:defRPr/>
            </a:lvl1pPr>
            <a:lvl2pPr marL="914400" lvl="1" indent="-228600" algn="l">
              <a:lnSpc>
                <a:spcPct val="100000"/>
              </a:lnSpc>
              <a:spcBef>
                <a:spcPts val="0"/>
              </a:spcBef>
              <a:spcAft>
                <a:spcPts val="0"/>
              </a:spcAft>
              <a:buSzPts val="1400"/>
              <a:buNone/>
              <a:defRPr/>
            </a:lvl2pPr>
            <a:lvl3pPr marL="1371600" lvl="2" indent="-228600" algn="l">
              <a:lnSpc>
                <a:spcPct val="100000"/>
              </a:lnSpc>
              <a:spcBef>
                <a:spcPts val="0"/>
              </a:spcBef>
              <a:spcAft>
                <a:spcPts val="0"/>
              </a:spcAft>
              <a:buSzPts val="1400"/>
              <a:buNone/>
              <a:defRPr/>
            </a:lvl3pPr>
            <a:lvl4pPr marL="1828800" lvl="3" indent="-228600" algn="l">
              <a:lnSpc>
                <a:spcPct val="100000"/>
              </a:lnSpc>
              <a:spcBef>
                <a:spcPts val="0"/>
              </a:spcBef>
              <a:spcAft>
                <a:spcPts val="0"/>
              </a:spcAft>
              <a:buSzPts val="1400"/>
              <a:buNone/>
              <a:defRPr/>
            </a:lvl4pPr>
            <a:lvl5pPr marL="2286000" lvl="4" indent="-228600" algn="l">
              <a:lnSpc>
                <a:spcPct val="100000"/>
              </a:lnSpc>
              <a:spcBef>
                <a:spcPts val="0"/>
              </a:spcBef>
              <a:spcAft>
                <a:spcPts val="0"/>
              </a:spcAft>
              <a:buSzPts val="1400"/>
              <a:buNone/>
              <a:defRPr/>
            </a:lvl5pPr>
            <a:lvl6pPr marL="2743200" lvl="5" indent="-228600" algn="l">
              <a:lnSpc>
                <a:spcPct val="100000"/>
              </a:lnSpc>
              <a:spcBef>
                <a:spcPts val="0"/>
              </a:spcBef>
              <a:spcAft>
                <a:spcPts val="0"/>
              </a:spcAft>
              <a:buSzPts val="1400"/>
              <a:buNone/>
              <a:defRPr/>
            </a:lvl6pPr>
            <a:lvl7pPr marL="3200400" lvl="6" indent="-228600" algn="l">
              <a:lnSpc>
                <a:spcPct val="100000"/>
              </a:lnSpc>
              <a:spcBef>
                <a:spcPts val="0"/>
              </a:spcBef>
              <a:spcAft>
                <a:spcPts val="0"/>
              </a:spcAft>
              <a:buSzPts val="1400"/>
              <a:buNone/>
              <a:defRPr/>
            </a:lvl7pPr>
            <a:lvl8pPr marL="3657600" lvl="7" indent="-228600" algn="l">
              <a:lnSpc>
                <a:spcPct val="100000"/>
              </a:lnSpc>
              <a:spcBef>
                <a:spcPts val="0"/>
              </a:spcBef>
              <a:spcAft>
                <a:spcPts val="0"/>
              </a:spcAft>
              <a:buSzPts val="1400"/>
              <a:buNone/>
              <a:defRPr/>
            </a:lvl8pPr>
            <a:lvl9pPr marL="4114800" lvl="8" indent="-228600" algn="l">
              <a:lnSpc>
                <a:spcPct val="100000"/>
              </a:lnSpc>
              <a:spcBef>
                <a:spcPts val="0"/>
              </a:spcBef>
              <a:spcAft>
                <a:spcPts val="0"/>
              </a:spcAft>
              <a:buSzPts val="1400"/>
              <a:buNone/>
              <a:defRPr/>
            </a:lvl9pPr>
          </a:lstStyle>
          <a:p>
            <a:pPr>
              <a:defRPr/>
            </a:pPr>
            <a:endParaRPr/>
          </a:p>
        </p:txBody>
      </p:sp>
      <p:sp>
        <p:nvSpPr>
          <p:cNvPr id="39" name="Google Shape;39;p17"/>
          <p:cNvSpPr txBox="1">
            <a:spLocks noGrp="1"/>
          </p:cNvSpPr>
          <p:nvPr>
            <p:ph type="ftr" idx="11"/>
          </p:nvPr>
        </p:nvSpPr>
        <p:spPr bwMode="auto">
          <a:xfrm>
            <a:off x="4145280" y="6377940"/>
            <a:ext cx="3901440" cy="342900"/>
          </a:xfrm>
          <a:prstGeom prst="rect">
            <a:avLst/>
          </a:prstGeom>
          <a:noFill/>
          <a:ln>
            <a:noFill/>
          </a:ln>
        </p:spPr>
        <p:txBody>
          <a:bodyPr spcFirstLastPara="1" wrap="square" lIns="0" tIns="0" rIns="0" bIns="0" anchor="t" anchorCtr="0">
            <a:spAutoFit/>
          </a:bodyPr>
          <a:lstStyle>
            <a:lvl1pPr lvl="0" algn="ctr">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pPr>
              <a:defRPr/>
            </a:pPr>
            <a:endParaRPr/>
          </a:p>
        </p:txBody>
      </p:sp>
      <p:sp>
        <p:nvSpPr>
          <p:cNvPr id="40" name="Google Shape;40;p17"/>
          <p:cNvSpPr txBox="1">
            <a:spLocks noGrp="1"/>
          </p:cNvSpPr>
          <p:nvPr>
            <p:ph type="dt" idx="10"/>
          </p:nvPr>
        </p:nvSpPr>
        <p:spPr bwMode="auto">
          <a:xfrm>
            <a:off x="609600" y="6377940"/>
            <a:ext cx="2804160" cy="342900"/>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pPr>
              <a:defRPr/>
            </a:pPr>
            <a:endParaRPr/>
          </a:p>
        </p:txBody>
      </p:sp>
      <p:sp>
        <p:nvSpPr>
          <p:cNvPr id="41" name="Google Shape;41;p17"/>
          <p:cNvSpPr txBox="1">
            <a:spLocks noGrp="1"/>
          </p:cNvSpPr>
          <p:nvPr>
            <p:ph type="sldNum" idx="12"/>
          </p:nvPr>
        </p:nvSpPr>
        <p:spPr bwMode="auto">
          <a:xfrm>
            <a:off x="11690350" y="6579819"/>
            <a:ext cx="229870" cy="177800"/>
          </a:xfrm>
          <a:prstGeom prst="rect">
            <a:avLst/>
          </a:prstGeom>
          <a:noFill/>
          <a:ln>
            <a:noFill/>
          </a:ln>
        </p:spPr>
        <p:txBody>
          <a:bodyPr spcFirstLastPara="1" wrap="square" lIns="0" tIns="0" rIns="0" bIns="0" anchor="t" anchorCtr="0">
            <a:spAutoFit/>
          </a:bodyPr>
          <a:lstStyle>
            <a:lvl1pPr marL="38100" marR="0" lvl="0" indent="0" algn="l">
              <a:lnSpc>
                <a:spcPct val="103333"/>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1pPr>
            <a:lvl2pPr marL="38100" marR="0" lvl="1" indent="0" algn="l">
              <a:lnSpc>
                <a:spcPct val="103333"/>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2pPr>
            <a:lvl3pPr marL="38100" marR="0" lvl="2" indent="0" algn="l">
              <a:lnSpc>
                <a:spcPct val="103333"/>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3pPr>
            <a:lvl4pPr marL="38100" marR="0" lvl="3" indent="0" algn="l">
              <a:lnSpc>
                <a:spcPct val="103333"/>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4pPr>
            <a:lvl5pPr marL="38100" marR="0" lvl="4" indent="0" algn="l">
              <a:lnSpc>
                <a:spcPct val="103333"/>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5pPr>
            <a:lvl6pPr marL="38100" marR="0" lvl="5" indent="0" algn="l">
              <a:lnSpc>
                <a:spcPct val="103333"/>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6pPr>
            <a:lvl7pPr marL="38100" marR="0" lvl="6" indent="0" algn="l">
              <a:lnSpc>
                <a:spcPct val="103333"/>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7pPr>
            <a:lvl8pPr marL="38100" marR="0" lvl="7" indent="0" algn="l">
              <a:lnSpc>
                <a:spcPct val="103333"/>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8pPr>
            <a:lvl9pPr marL="38100" marR="0" lvl="8" indent="0" algn="l">
              <a:lnSpc>
                <a:spcPct val="103333"/>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9pPr>
          </a:lstStyle>
          <a:p>
            <a:pPr marL="38100" lvl="0" indent="0" algn="l">
              <a:spcBef>
                <a:spcPts val="0"/>
              </a:spcBef>
              <a:spcAft>
                <a:spcPts val="0"/>
              </a:spcAft>
              <a:buNone/>
              <a:defRPr/>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 Id="rId4" Type="http://schemas.openxmlformats.org/officeDocument/2006/relationships/image" Target="../media/image1.png"/><Relationship Id="rId5" Type="http://schemas.openxmlformats.org/officeDocument/2006/relationships/image" Target="../media/image2.jp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bwMode="auto">
        <a:xfrm>
          <a:off x="0" y="0"/>
          <a:ext cx="0" cy="0"/>
          <a:chOff x="0" y="0"/>
          <a:chExt cx="0" cy="0"/>
        </a:xfrm>
      </p:grpSpPr>
      <p:pic>
        <p:nvPicPr>
          <p:cNvPr id="6" name="Google Shape;6;p13"/>
          <p:cNvPicPr/>
          <p:nvPr/>
        </p:nvPicPr>
        <p:blipFill>
          <a:blip r:embed="rId4">
            <a:alphaModFix/>
          </a:blip>
          <a:stretch/>
        </p:blipFill>
        <p:spPr bwMode="auto">
          <a:xfrm>
            <a:off x="0" y="0"/>
            <a:ext cx="12185904" cy="6854952"/>
          </a:xfrm>
          <a:prstGeom prst="rect">
            <a:avLst/>
          </a:prstGeom>
          <a:noFill/>
          <a:ln>
            <a:noFill/>
          </a:ln>
        </p:spPr>
      </p:pic>
      <p:pic>
        <p:nvPicPr>
          <p:cNvPr id="7" name="Google Shape;7;p13"/>
          <p:cNvPicPr/>
          <p:nvPr/>
        </p:nvPicPr>
        <p:blipFill>
          <a:blip r:embed="rId5">
            <a:alphaModFix/>
          </a:blip>
          <a:stretch/>
        </p:blipFill>
        <p:spPr bwMode="auto">
          <a:xfrm>
            <a:off x="5126735" y="6400798"/>
            <a:ext cx="2097023" cy="387096"/>
          </a:xfrm>
          <a:prstGeom prst="rect">
            <a:avLst/>
          </a:prstGeom>
          <a:noFill/>
          <a:ln>
            <a:noFill/>
          </a:ln>
        </p:spPr>
      </p:pic>
      <p:sp>
        <p:nvSpPr>
          <p:cNvPr id="8" name="Google Shape;8;p13"/>
          <p:cNvSpPr txBox="1">
            <a:spLocks noGrp="1"/>
          </p:cNvSpPr>
          <p:nvPr>
            <p:ph type="title"/>
          </p:nvPr>
        </p:nvSpPr>
        <p:spPr bwMode="auto">
          <a:xfrm>
            <a:off x="4170425" y="3116021"/>
            <a:ext cx="3851148" cy="940435"/>
          </a:xfrm>
          <a:prstGeom prst="rect">
            <a:avLst/>
          </a:prstGeom>
          <a:noFill/>
          <a:ln>
            <a:noFill/>
          </a:ln>
        </p:spPr>
        <p:txBody>
          <a:bodyPr spcFirstLastPara="1" wrap="square" lIns="0" tIns="0" rIns="0" bIns="0" anchor="t" anchorCtr="0">
            <a:spAutoFit/>
          </a:bodyPr>
          <a:lstStyle>
            <a:lvl1pPr marR="0" lvl="0" algn="l">
              <a:lnSpc>
                <a:spcPct val="100000"/>
              </a:lnSpc>
              <a:spcBef>
                <a:spcPts val="0"/>
              </a:spcBef>
              <a:spcAft>
                <a:spcPts val="0"/>
              </a:spcAft>
              <a:buClr>
                <a:srgbClr val="000000"/>
              </a:buClr>
              <a:buSzPts val="1400"/>
              <a:buFont typeface="Arial"/>
              <a:buNone/>
              <a:defRPr sz="6000" b="1" i="0" u="none" strike="noStrike" cap="none">
                <a:solidFill>
                  <a:srgbClr val="001F5F"/>
                </a:solidFill>
                <a:latin typeface="Arial"/>
                <a:ea typeface="Arial"/>
                <a:cs typeface="Arial"/>
              </a:defRPr>
            </a:lvl1pPr>
            <a:lvl2pPr marR="0" lvl="1"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defRPr>
            </a:lvl2pPr>
            <a:lvl3pPr marR="0" lvl="2"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defRPr>
            </a:lvl3pPr>
            <a:lvl4pPr marR="0" lvl="3"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defRPr>
            </a:lvl4pPr>
            <a:lvl5pPr marR="0" lvl="4"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defRPr>
            </a:lvl5pPr>
            <a:lvl6pPr marR="0" lvl="5"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defRPr>
            </a:lvl6pPr>
            <a:lvl7pPr marR="0" lvl="6"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defRPr>
            </a:lvl7pPr>
            <a:lvl8pPr marR="0" lvl="7"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defRPr>
            </a:lvl8pPr>
            <a:lvl9pPr marR="0" lvl="8"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defRPr>
            </a:lvl9pPr>
          </a:lstStyle>
          <a:p>
            <a:pPr>
              <a:defRPr/>
            </a:pPr>
            <a:endParaRPr/>
          </a:p>
        </p:txBody>
      </p:sp>
      <p:sp>
        <p:nvSpPr>
          <p:cNvPr id="9" name="Google Shape;9;p13"/>
          <p:cNvSpPr txBox="1">
            <a:spLocks noGrp="1"/>
          </p:cNvSpPr>
          <p:nvPr>
            <p:ph type="body" idx="1"/>
          </p:nvPr>
        </p:nvSpPr>
        <p:spPr bwMode="auto">
          <a:xfrm>
            <a:off x="1895983" y="2339085"/>
            <a:ext cx="8400033" cy="2074545"/>
          </a:xfrm>
          <a:prstGeom prst="rect">
            <a:avLst/>
          </a:prstGeom>
          <a:noFill/>
          <a:ln>
            <a:noFill/>
          </a:ln>
        </p:spPr>
        <p:txBody>
          <a:bodyPr spcFirstLastPara="1" wrap="square" lIns="0" tIns="0" rIns="0" bIns="0" anchor="t" anchorCtr="0">
            <a:spAutoFit/>
          </a:bodyPr>
          <a:lstStyle>
            <a:lvl1pPr marL="457200" marR="0" lvl="0" indent="-228600" algn="l">
              <a:lnSpc>
                <a:spcPct val="100000"/>
              </a:lnSpc>
              <a:spcBef>
                <a:spcPts val="0"/>
              </a:spcBef>
              <a:spcAft>
                <a:spcPts val="0"/>
              </a:spcAft>
              <a:buClr>
                <a:srgbClr val="000000"/>
              </a:buClr>
              <a:buSzPts val="1400"/>
              <a:buFont typeface="Arial"/>
              <a:buNone/>
              <a:defRPr sz="4800" b="1" i="0" u="none" strike="noStrike" cap="none">
                <a:solidFill>
                  <a:srgbClr val="FF0000"/>
                </a:solidFill>
                <a:latin typeface="Arial"/>
                <a:ea typeface="Arial"/>
                <a:cs typeface="Arial"/>
              </a:defRPr>
            </a:lvl1pPr>
            <a:lvl2pPr marL="914400" marR="0" lvl="1" indent="-228600"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defRPr>
            </a:lvl2pPr>
            <a:lvl3pPr marL="1371600" marR="0" lvl="2" indent="-228600"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defRPr>
            </a:lvl3pPr>
            <a:lvl4pPr marL="1828800" marR="0" lvl="3" indent="-228600"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defRPr>
            </a:lvl4pPr>
            <a:lvl5pPr marL="2286000" marR="0" lvl="4" indent="-228600"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defRPr>
            </a:lvl5pPr>
            <a:lvl6pPr marL="2743200" marR="0" lvl="5" indent="-228600"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defRPr>
            </a:lvl6pPr>
            <a:lvl7pPr marL="3200400" marR="0" lvl="6" indent="-228600"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defRPr>
            </a:lvl7pPr>
            <a:lvl8pPr marL="3657600" marR="0" lvl="7" indent="-228600"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defRPr>
            </a:lvl8pPr>
            <a:lvl9pPr marL="4114800" marR="0" lvl="8" indent="-228600"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defRPr>
            </a:lvl9pPr>
          </a:lstStyle>
          <a:p>
            <a:pPr>
              <a:defRPr/>
            </a:pPr>
            <a:endParaRPr/>
          </a:p>
        </p:txBody>
      </p:sp>
      <p:sp>
        <p:nvSpPr>
          <p:cNvPr id="10" name="Google Shape;10;p13"/>
          <p:cNvSpPr txBox="1">
            <a:spLocks noGrp="1"/>
          </p:cNvSpPr>
          <p:nvPr>
            <p:ph type="ftr" idx="11"/>
          </p:nvPr>
        </p:nvSpPr>
        <p:spPr bwMode="auto">
          <a:xfrm>
            <a:off x="4145280" y="6377940"/>
            <a:ext cx="3901440" cy="342900"/>
          </a:xfrm>
          <a:prstGeom prst="rect">
            <a:avLst/>
          </a:prstGeom>
          <a:noFill/>
          <a:ln>
            <a:noFill/>
          </a:ln>
        </p:spPr>
        <p:txBody>
          <a:bodyPr spcFirstLastPara="1" wrap="square" lIns="0" tIns="0" rIns="0" bIns="0" anchor="t" anchorCtr="0">
            <a:spAutoFit/>
          </a:bodyPr>
          <a:lstStyle>
            <a:lvl1pPr marR="0" lvl="0" algn="ctr">
              <a:lnSpc>
                <a:spcPct val="100000"/>
              </a:lnSpc>
              <a:spcBef>
                <a:spcPts val="0"/>
              </a:spcBef>
              <a:spcAft>
                <a:spcPts val="0"/>
              </a:spcAft>
              <a:buClr>
                <a:srgbClr val="000000"/>
              </a:buClr>
              <a:buSzPts val="1400"/>
              <a:buFont typeface="Arial"/>
              <a:buNone/>
              <a:defRPr sz="1800" b="0" i="0" u="none" strike="noStrike" cap="none">
                <a:solidFill>
                  <a:srgbClr val="888888"/>
                </a:solidFill>
                <a:latin typeface="Calibri"/>
                <a:ea typeface="Calibri"/>
                <a:cs typeface="Calibri"/>
              </a:defRPr>
            </a:lvl1pPr>
            <a:lvl2pPr marR="0" lvl="1"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defRPr>
            </a:lvl2pPr>
            <a:lvl3pPr marR="0" lvl="2"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defRPr>
            </a:lvl3pPr>
            <a:lvl4pPr marR="0" lvl="3"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defRPr>
            </a:lvl4pPr>
            <a:lvl5pPr marR="0" lvl="4"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defRPr>
            </a:lvl5pPr>
            <a:lvl6pPr marR="0" lvl="5"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defRPr>
            </a:lvl6pPr>
            <a:lvl7pPr marR="0" lvl="6"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defRPr>
            </a:lvl7pPr>
            <a:lvl8pPr marR="0" lvl="7"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defRPr>
            </a:lvl8pPr>
            <a:lvl9pPr marR="0" lvl="8"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defRPr>
            </a:lvl9pPr>
          </a:lstStyle>
          <a:p>
            <a:pPr>
              <a:defRPr/>
            </a:pPr>
            <a:endParaRPr/>
          </a:p>
        </p:txBody>
      </p:sp>
      <p:sp>
        <p:nvSpPr>
          <p:cNvPr id="11" name="Google Shape;11;p13"/>
          <p:cNvSpPr txBox="1">
            <a:spLocks noGrp="1"/>
          </p:cNvSpPr>
          <p:nvPr>
            <p:ph type="dt" idx="10"/>
          </p:nvPr>
        </p:nvSpPr>
        <p:spPr bwMode="auto">
          <a:xfrm>
            <a:off x="609600" y="6377940"/>
            <a:ext cx="2804160" cy="342900"/>
          </a:xfrm>
          <a:prstGeom prst="rect">
            <a:avLst/>
          </a:prstGeom>
          <a:noFill/>
          <a:ln>
            <a:noFill/>
          </a:ln>
        </p:spPr>
        <p:txBody>
          <a:bodyPr spcFirstLastPara="1" wrap="square" lIns="0" tIns="0" rIns="0" bIns="0" anchor="t" anchorCtr="0">
            <a:spAutoFit/>
          </a:bodyPr>
          <a:lstStyle>
            <a:lvl1pPr marR="0" lvl="0" algn="l">
              <a:lnSpc>
                <a:spcPct val="100000"/>
              </a:lnSpc>
              <a:spcBef>
                <a:spcPts val="0"/>
              </a:spcBef>
              <a:spcAft>
                <a:spcPts val="0"/>
              </a:spcAft>
              <a:buClr>
                <a:srgbClr val="000000"/>
              </a:buClr>
              <a:buSzPts val="1400"/>
              <a:buFont typeface="Arial"/>
              <a:buNone/>
              <a:defRPr sz="1800" b="0" i="0" u="none" strike="noStrike" cap="none">
                <a:solidFill>
                  <a:srgbClr val="888888"/>
                </a:solidFill>
                <a:latin typeface="Calibri"/>
                <a:ea typeface="Calibri"/>
                <a:cs typeface="Calibri"/>
              </a:defRPr>
            </a:lvl1pPr>
            <a:lvl2pPr marR="0" lvl="1"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defRPr>
            </a:lvl2pPr>
            <a:lvl3pPr marR="0" lvl="2"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defRPr>
            </a:lvl3pPr>
            <a:lvl4pPr marR="0" lvl="3"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defRPr>
            </a:lvl4pPr>
            <a:lvl5pPr marR="0" lvl="4"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defRPr>
            </a:lvl5pPr>
            <a:lvl6pPr marR="0" lvl="5"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defRPr>
            </a:lvl6pPr>
            <a:lvl7pPr marR="0" lvl="6"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defRPr>
            </a:lvl7pPr>
            <a:lvl8pPr marR="0" lvl="7"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defRPr>
            </a:lvl8pPr>
            <a:lvl9pPr marR="0" lvl="8"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defRPr>
            </a:lvl9pPr>
          </a:lstStyle>
          <a:p>
            <a:pPr>
              <a:defRPr/>
            </a:pPr>
            <a:endParaRPr/>
          </a:p>
        </p:txBody>
      </p:sp>
      <p:sp>
        <p:nvSpPr>
          <p:cNvPr id="12" name="Google Shape;12;p13"/>
          <p:cNvSpPr txBox="1">
            <a:spLocks noGrp="1"/>
          </p:cNvSpPr>
          <p:nvPr>
            <p:ph type="sldNum" idx="12"/>
          </p:nvPr>
        </p:nvSpPr>
        <p:spPr bwMode="auto">
          <a:xfrm>
            <a:off x="11690350" y="6579819"/>
            <a:ext cx="229870" cy="177800"/>
          </a:xfrm>
          <a:prstGeom prst="rect">
            <a:avLst/>
          </a:prstGeom>
          <a:noFill/>
          <a:ln>
            <a:noFill/>
          </a:ln>
        </p:spPr>
        <p:txBody>
          <a:bodyPr spcFirstLastPara="1" wrap="square" lIns="0" tIns="0" rIns="0" bIns="0" anchor="t" anchorCtr="0">
            <a:spAutoFit/>
          </a:bodyPr>
          <a:lstStyle>
            <a:lvl1pPr marL="38100" marR="0" lvl="0" indent="0" algn="l">
              <a:lnSpc>
                <a:spcPct val="103333"/>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1pPr>
            <a:lvl2pPr marL="38100" marR="0" lvl="1" indent="0" algn="l">
              <a:lnSpc>
                <a:spcPct val="103333"/>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2pPr>
            <a:lvl3pPr marL="38100" marR="0" lvl="2" indent="0" algn="l">
              <a:lnSpc>
                <a:spcPct val="103333"/>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3pPr>
            <a:lvl4pPr marL="38100" marR="0" lvl="3" indent="0" algn="l">
              <a:lnSpc>
                <a:spcPct val="103333"/>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4pPr>
            <a:lvl5pPr marL="38100" marR="0" lvl="4" indent="0" algn="l">
              <a:lnSpc>
                <a:spcPct val="103333"/>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5pPr>
            <a:lvl6pPr marL="38100" marR="0" lvl="5" indent="0" algn="l">
              <a:lnSpc>
                <a:spcPct val="103333"/>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6pPr>
            <a:lvl7pPr marL="38100" marR="0" lvl="6" indent="0" algn="l">
              <a:lnSpc>
                <a:spcPct val="103333"/>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7pPr>
            <a:lvl8pPr marL="38100" marR="0" lvl="7" indent="0" algn="l">
              <a:lnSpc>
                <a:spcPct val="103333"/>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8pPr>
            <a:lvl9pPr marL="38100" marR="0" lvl="8" indent="0" algn="l">
              <a:lnSpc>
                <a:spcPct val="103333"/>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9pPr>
          </a:lstStyle>
          <a:p>
            <a:pPr marL="38100" lvl="0" indent="0" algn="l">
              <a:spcBef>
                <a:spcPts val="0"/>
              </a:spcBef>
              <a:spcAft>
                <a:spcPts val="0"/>
              </a:spcAft>
              <a:buNone/>
              <a:defRPr/>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Lst>
  <p:hf sldNum="0" hdr="0" ftr="0" dt="0"/>
  <p:txStyles>
    <p:titleStyle>
      <a:defPPr marR="0" lvl="0" algn="l">
        <a:lnSpc>
          <a:spcPct val="100000"/>
        </a:lnSpc>
        <a:spcBef>
          <a:spcPts val="0"/>
        </a:spcBef>
        <a:spcAft>
          <a:spcPts val="0"/>
        </a:spcAft>
      </a:defPPr>
      <a:lvl1pPr marR="0" lvl="0"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1pPr>
      <a:lvl2pPr marR="0" lvl="1"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2pPr>
      <a:lvl3pPr marR="0" lvl="2"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3pPr>
      <a:lvl4pPr marR="0" lvl="3"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4pPr>
      <a:lvl5pPr marR="0" lvl="4"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5pPr>
      <a:lvl6pPr marR="0" lvl="5"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6pPr>
      <a:lvl7pPr marR="0" lvl="6"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7pPr>
      <a:lvl8pPr marR="0" lvl="7"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8pPr>
      <a:lvl9pPr marR="0" lvl="8"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9pPr>
    </p:titleStyle>
    <p:bodyStyle>
      <a:defPPr marR="0" lvl="0" algn="l">
        <a:lnSpc>
          <a:spcPct val="100000"/>
        </a:lnSpc>
        <a:spcBef>
          <a:spcPts val="0"/>
        </a:spcBef>
        <a:spcAft>
          <a:spcPts val="0"/>
        </a:spcAft>
      </a:defPPr>
      <a:lvl1pPr marR="0" lvl="0"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1pPr>
      <a:lvl2pPr marR="0" lvl="1"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2pPr>
      <a:lvl3pPr marR="0" lvl="2"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3pPr>
      <a:lvl4pPr marR="0" lvl="3"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4pPr>
      <a:lvl5pPr marR="0" lvl="4"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5pPr>
      <a:lvl6pPr marR="0" lvl="5"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6pPr>
      <a:lvl7pPr marR="0" lvl="6"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7pPr>
      <a:lvl8pPr marR="0" lvl="7"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8pPr>
      <a:lvl9pPr marR="0" lvl="8"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9pPr>
    </p:bodyStyle>
    <p:otherStyle>
      <a:defPPr marR="0" lvl="0" algn="l">
        <a:lnSpc>
          <a:spcPct val="100000"/>
        </a:lnSpc>
        <a:spcBef>
          <a:spcPts val="0"/>
        </a:spcBef>
        <a:spcAft>
          <a:spcPts val="0"/>
        </a:spcAft>
      </a:defPPr>
      <a:lvl1pPr marR="0" lvl="0"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1pPr>
      <a:lvl2pPr marR="0" lvl="1"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2pPr>
      <a:lvl3pPr marR="0" lvl="2"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3pPr>
      <a:lvl4pPr marR="0" lvl="3"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4pPr>
      <a:lvl5pPr marR="0" lvl="4"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5pPr>
      <a:lvl6pPr marR="0" lvl="5"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6pPr>
      <a:lvl7pPr marR="0" lvl="6"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7pPr>
      <a:lvl8pPr marR="0" lvl="7"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8pPr>
      <a:lvl9pPr marR="0" lvl="8"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jpg"/><Relationship Id="rId4" Type="http://schemas.openxmlformats.org/officeDocument/2006/relationships/image" Target="../media/image4.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7.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8.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bwMode="auto">
        <a:xfrm>
          <a:off x="0" y="0"/>
          <a:ext cx="0" cy="0"/>
          <a:chOff x="0" y="0"/>
          <a:chExt cx="0" cy="0"/>
        </a:xfrm>
      </p:grpSpPr>
      <p:pic>
        <p:nvPicPr>
          <p:cNvPr id="46" name="Google Shape;46;p1"/>
          <p:cNvPicPr/>
          <p:nvPr/>
        </p:nvPicPr>
        <p:blipFill>
          <a:blip r:embed="rId3">
            <a:alphaModFix/>
          </a:blip>
          <a:stretch/>
        </p:blipFill>
        <p:spPr bwMode="auto">
          <a:xfrm>
            <a:off x="0" y="0"/>
            <a:ext cx="12192000" cy="6854951"/>
          </a:xfrm>
          <a:prstGeom prst="rect">
            <a:avLst/>
          </a:prstGeom>
          <a:noFill/>
          <a:ln>
            <a:noFill/>
          </a:ln>
        </p:spPr>
      </p:pic>
      <p:sp>
        <p:nvSpPr>
          <p:cNvPr id="47" name="Google Shape;47;p1"/>
          <p:cNvSpPr txBox="1">
            <a:spLocks noGrp="1"/>
          </p:cNvSpPr>
          <p:nvPr>
            <p:ph type="body" idx="1"/>
          </p:nvPr>
        </p:nvSpPr>
        <p:spPr bwMode="auto">
          <a:xfrm>
            <a:off x="1691640" y="2395728"/>
            <a:ext cx="8778240" cy="1463040"/>
          </a:xfrm>
          <a:prstGeom prst="rect">
            <a:avLst/>
          </a:prstGeom>
          <a:noFill/>
          <a:ln>
            <a:noFill/>
          </a:ln>
        </p:spPr>
        <p:txBody>
          <a:bodyPr spcFirstLastPara="1" wrap="square" lIns="0" tIns="94600" rIns="0" bIns="0" anchor="t" anchorCtr="0">
            <a:spAutoFit/>
          </a:bodyPr>
          <a:lstStyle/>
          <a:p>
            <a:pPr marL="27940" marR="5080" lvl="0" indent="-13970" algn="ctr">
              <a:lnSpc>
                <a:spcPct val="108124"/>
              </a:lnSpc>
              <a:spcBef>
                <a:spcPts val="745"/>
              </a:spcBef>
              <a:defRPr/>
            </a:pPr>
            <a:r>
              <a:rPr lang="en-US" sz="2800" u="none" b="1">
                <a:solidFill>
                  <a:schemeClr val="bg2"/>
                </a:solidFill>
                <a:latin typeface="Times New Roman"/>
                <a:ea typeface="Times New Roman"/>
                <a:cs typeface="Times New Roman"/>
              </a:rPr>
              <a:t>Analysis of Nifty / Sensex Historical Data Using R</a:t>
            </a:r>
            <a:endParaRPr sz="3200" u="sng">
              <a:solidFill>
                <a:schemeClr val="bg2"/>
              </a:solidFill>
              <a:latin typeface="Times New Roman"/>
              <a:ea typeface="Times New Roman"/>
              <a:cs typeface="Times New Roman"/>
            </a:endParaRPr>
          </a:p>
        </p:txBody>
      </p:sp>
      <p:pic>
        <p:nvPicPr>
          <p:cNvPr id="49" name="Google Shape;49;p1"/>
          <p:cNvPicPr/>
          <p:nvPr/>
        </p:nvPicPr>
        <p:blipFill>
          <a:blip r:embed="rId4">
            <a:alphaModFix/>
          </a:blip>
          <a:stretch/>
        </p:blipFill>
        <p:spPr bwMode="auto">
          <a:xfrm>
            <a:off x="3282950" y="914400"/>
            <a:ext cx="5791200" cy="1295400"/>
          </a:xfrm>
          <a:prstGeom prst="rect">
            <a:avLst/>
          </a:prstGeom>
          <a:noFill/>
          <a:ln>
            <a:noFill/>
          </a:ln>
        </p:spPr>
      </p:pic>
      <p:sp>
        <p:nvSpPr>
          <p:cNvPr id="50" name="Rounded Rectangle 49"/>
          <p:cNvSpPr/>
          <p:nvPr/>
        </p:nvSpPr>
        <p:spPr>
          <a:xfrm>
            <a:off x="1828800" y="4114800"/>
            <a:ext cx="8534400" cy="1554480"/>
          </a:xfrm>
          <a:prstGeom prst="roundRect">
            <a:avLst/>
          </a:prstGeom>
          <a:solidFill>
            <a:srgbClr val="FFFFFF"/>
          </a:solidFill>
          <a:ln w="19050">
            <a:solidFill>
              <a:srgbClr val="001F5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0"/>
              </a:spcAft>
            </a:pPr>
            <a:r>
              <a:rPr sz="2000" b="1">
                <a:solidFill>
                  <a:srgbClr val="001F5F"/>
                </a:solidFill>
                <a:latin typeface="Times New Roman"/>
              </a:rPr>
              <a:t>Tanish Jagtap    |    Roll No. 58    |    PRN 23610060</a:t>
            </a:r>
          </a:p>
          <a:p>
            <a:pPr algn="ctr">
              <a:spcBef>
                <a:spcPts val="900"/>
              </a:spcBef>
              <a:spcAft>
                <a:spcPts val="0"/>
              </a:spcAft>
            </a:pPr>
            <a:r>
              <a:rPr sz="1500" b="1">
                <a:solidFill>
                  <a:srgbClr val="1A1A1A"/>
                </a:solidFill>
                <a:latin typeface="Times New Roman"/>
              </a:rPr>
              <a:t>Guide :  Prof. Bhagyashree Gore</a:t>
            </a:r>
          </a:p>
          <a:p>
            <a:pPr algn="ctr">
              <a:spcBef>
                <a:spcPts val="400"/>
              </a:spcBef>
              <a:spcAft>
                <a:spcPts val="0"/>
              </a:spcAft>
            </a:pPr>
            <a:r>
              <a:rPr sz="1300" b="0">
                <a:solidFill>
                  <a:srgbClr val="5A5A5A"/>
                </a:solidFill>
                <a:latin typeface="Times New Roman"/>
              </a:rPr>
              <a:t>Department of Artificial Intelligence &amp; Data Science, AISSMS IOIT</a:t>
            </a:r>
          </a:p>
          <a:p>
            <a:pPr algn="ctr">
              <a:spcBef>
                <a:spcPts val="400"/>
              </a:spcBef>
              <a:spcAft>
                <a:spcPts val="0"/>
              </a:spcAft>
            </a:pPr>
            <a:r>
              <a:rPr sz="1200" b="0">
                <a:solidFill>
                  <a:srgbClr val="5A5A5A"/>
                </a:solidFill>
                <a:latin typeface="Times New Roman"/>
              </a:rPr>
              <a:t>Artificial Intelligence for Investments    |    Case Study 01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512064"/>
            <a:ext cx="11094720" cy="594360"/>
          </a:xfrm>
          <a:prstGeom prst="rect">
            <a:avLst/>
          </a:prstGeom>
          <a:noFill/>
        </p:spPr>
        <p:txBody>
          <a:bodyPr wrap="square" anchor="ctr">
            <a:spAutoFit/>
          </a:bodyPr>
          <a:lstStyle/>
          <a:p>
            <a:r>
              <a:rPr sz="3000" b="1">
                <a:solidFill>
                  <a:srgbClr val="001F5F"/>
                </a:solidFill>
                <a:latin typeface="Times New Roman"/>
              </a:rPr>
              <a:t>Introduction</a:t>
            </a:r>
          </a:p>
        </p:txBody>
      </p:sp>
      <p:sp>
        <p:nvSpPr>
          <p:cNvPr id="3" name="Rectangle 2"/>
          <p:cNvSpPr/>
          <p:nvPr/>
        </p:nvSpPr>
        <p:spPr>
          <a:xfrm>
            <a:off x="548640" y="1143000"/>
            <a:ext cx="2200000" cy="38100"/>
          </a:xfrm>
          <a:prstGeom prst="rect">
            <a:avLst/>
          </a:prstGeom>
          <a:solidFill>
            <a:srgbClr val="8C1D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310640"/>
            <a:ext cx="11094720" cy="4480560"/>
          </a:xfrm>
          <a:prstGeom prst="rect">
            <a:avLst/>
          </a:prstGeom>
          <a:noFill/>
        </p:spPr>
        <p:txBody>
          <a:bodyPr wrap="square">
            <a:spAutoFit/>
          </a:bodyPr>
          <a:lstStyle/>
          <a:p>
            <a:pPr algn="just">
              <a:lnSpc>
                <a:spcPct val="105000"/>
              </a:lnSpc>
              <a:spcBef>
                <a:spcPts val="0"/>
              </a:spcBef>
              <a:spcAft>
                <a:spcPts val="0"/>
              </a:spcAft>
            </a:pPr>
            <a:r>
              <a:rPr sz="1700" b="1">
                <a:solidFill>
                  <a:srgbClr val="001F5F"/>
                </a:solidFill>
                <a:latin typeface="Times New Roman"/>
              </a:rPr>
              <a:t>▪  </a:t>
            </a:r>
            <a:r>
              <a:rPr sz="1700" b="0">
                <a:solidFill>
                  <a:srgbClr val="1A1A1A"/>
                </a:solidFill>
                <a:latin typeface="Times New Roman"/>
              </a:rPr>
              <a:t>The Nifty 50 and the Sensex are the two main share market indexes in India. Mutual funds, index funds and many other investment products are based on them.</a:t>
            </a:r>
          </a:p>
          <a:p>
            <a:pPr algn="just">
              <a:lnSpc>
                <a:spcPct val="105000"/>
              </a:lnSpc>
              <a:spcBef>
                <a:spcPts val="1000"/>
              </a:spcBef>
              <a:spcAft>
                <a:spcPts val="0"/>
              </a:spcAft>
            </a:pPr>
            <a:r>
              <a:rPr sz="1700" b="1">
                <a:solidFill>
                  <a:srgbClr val="001F5F"/>
                </a:solidFill>
                <a:latin typeface="Times New Roman"/>
              </a:rPr>
              <a:t>▪  </a:t>
            </a:r>
            <a:r>
              <a:rPr sz="1700" b="0">
                <a:solidFill>
                  <a:srgbClr val="1A1A1A"/>
                </a:solidFill>
                <a:latin typeface="Times New Roman"/>
              </a:rPr>
              <a:t>Most risk calculations used with these indexes assume two things: that daily returns follow a normal curve, and that risk stays at one fixed level.</a:t>
            </a:r>
          </a:p>
          <a:p>
            <a:pPr algn="just">
              <a:lnSpc>
                <a:spcPct val="105000"/>
              </a:lnSpc>
              <a:spcBef>
                <a:spcPts val="1000"/>
              </a:spcBef>
              <a:spcAft>
                <a:spcPts val="0"/>
              </a:spcAft>
            </a:pPr>
            <a:r>
              <a:rPr sz="1700" b="1">
                <a:solidFill>
                  <a:srgbClr val="001F5F"/>
                </a:solidFill>
                <a:latin typeface="Times New Roman"/>
              </a:rPr>
              <a:t>▪  </a:t>
            </a:r>
            <a:r>
              <a:rPr sz="1700" b="0">
                <a:solidFill>
                  <a:srgbClr val="1A1A1A"/>
                </a:solidFill>
                <a:latin typeface="Times New Roman"/>
              </a:rPr>
              <a:t>The past data does not agree. The Nifty 50 gained 76 per cent in 2009 and lost 52 per cent in 2008. Its yearly risk level moved between 9 and 45 per cent.</a:t>
            </a:r>
          </a:p>
          <a:p>
            <a:pPr algn="just">
              <a:lnSpc>
                <a:spcPct val="105000"/>
              </a:lnSpc>
              <a:spcBef>
                <a:spcPts val="1000"/>
              </a:spcBef>
              <a:spcAft>
                <a:spcPts val="0"/>
              </a:spcAft>
            </a:pPr>
            <a:r>
              <a:rPr sz="1700" b="1">
                <a:solidFill>
                  <a:srgbClr val="001F5F"/>
                </a:solidFill>
                <a:latin typeface="Times New Roman"/>
              </a:rPr>
              <a:t>▪  </a:t>
            </a:r>
            <a:r>
              <a:rPr sz="1700" b="0">
                <a:solidFill>
                  <a:srgbClr val="1A1A1A"/>
                </a:solidFill>
                <a:latin typeface="Times New Roman"/>
              </a:rPr>
              <a:t>This case study checks both assumptions using real data and the R software.</a:t>
            </a:r>
          </a:p>
          <a:p>
            <a:pPr algn="just">
              <a:lnSpc>
                <a:spcPct val="105000"/>
              </a:lnSpc>
              <a:spcBef>
                <a:spcPts val="1800"/>
              </a:spcBef>
              <a:spcAft>
                <a:spcPts val="0"/>
              </a:spcAft>
            </a:pPr>
            <a:r>
              <a:rPr sz="1700" b="1">
                <a:solidFill>
                  <a:srgbClr val="001F5F"/>
                </a:solidFill>
                <a:latin typeface="Times New Roman"/>
              </a:rPr>
              <a:t>▪  </a:t>
            </a:r>
            <a:r>
              <a:rPr sz="1700" b="1">
                <a:solidFill>
                  <a:srgbClr val="001F5F"/>
                </a:solidFill>
                <a:latin typeface="Times New Roman"/>
              </a:rPr>
              <a:t>Main idea:  </a:t>
            </a:r>
            <a:r>
              <a:rPr sz="1700" b="0">
                <a:solidFill>
                  <a:srgbClr val="1A1A1A"/>
                </a:solidFill>
                <a:latin typeface="Times New Roman"/>
              </a:rPr>
              <a:t>the direction of the market cannot be predicted, but the risk level can be.</a:t>
            </a:r>
          </a:p>
        </p:txBody>
      </p:sp>
      <p:sp>
        <p:nvSpPr>
          <p:cNvPr id="5" name="TextBox 4"/>
          <p:cNvSpPr txBox="1"/>
          <p:nvPr/>
        </p:nvSpPr>
        <p:spPr>
          <a:xfrm>
            <a:off x="548640" y="6172200"/>
            <a:ext cx="11094720" cy="274320"/>
          </a:xfrm>
          <a:prstGeom prst="rect">
            <a:avLst/>
          </a:prstGeom>
          <a:noFill/>
        </p:spPr>
        <p:txBody>
          <a:bodyPr wrap="square">
            <a:spAutoFit/>
          </a:bodyPr>
          <a:lstStyle/>
          <a:p>
            <a:r>
              <a:rPr sz="1100" i="1">
                <a:solidFill>
                  <a:srgbClr val="5A5A5A"/>
                </a:solidFill>
                <a:latin typeface="Times New Roman"/>
              </a:rPr>
              <a:t>Data used: Nifty 50 from 2007-09-17 (4,647 days) and Sensex from 2000-01-03 (6,570 days), up to 2026-08-27.</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512064"/>
            <a:ext cx="11094720" cy="594360"/>
          </a:xfrm>
          <a:prstGeom prst="rect">
            <a:avLst/>
          </a:prstGeom>
          <a:noFill/>
        </p:spPr>
        <p:txBody>
          <a:bodyPr wrap="square" anchor="ctr">
            <a:spAutoFit/>
          </a:bodyPr>
          <a:lstStyle/>
          <a:p>
            <a:r>
              <a:rPr sz="3000" b="1">
                <a:solidFill>
                  <a:srgbClr val="001F5F"/>
                </a:solidFill>
                <a:latin typeface="Times New Roman"/>
              </a:rPr>
              <a:t>Problem Statement</a:t>
            </a:r>
          </a:p>
        </p:txBody>
      </p:sp>
      <p:sp>
        <p:nvSpPr>
          <p:cNvPr id="3" name="Rectangle 2"/>
          <p:cNvSpPr/>
          <p:nvPr/>
        </p:nvSpPr>
        <p:spPr>
          <a:xfrm>
            <a:off x="548640" y="1143000"/>
            <a:ext cx="2200000" cy="38100"/>
          </a:xfrm>
          <a:prstGeom prst="rect">
            <a:avLst/>
          </a:prstGeom>
          <a:solidFill>
            <a:srgbClr val="8C1D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310640"/>
            <a:ext cx="11094720" cy="4480560"/>
          </a:xfrm>
          <a:prstGeom prst="rect">
            <a:avLst/>
          </a:prstGeom>
          <a:noFill/>
        </p:spPr>
        <p:txBody>
          <a:bodyPr wrap="square">
            <a:spAutoFit/>
          </a:bodyPr>
          <a:lstStyle/>
          <a:p>
            <a:pPr algn="just">
              <a:lnSpc>
                <a:spcPct val="105000"/>
              </a:lnSpc>
              <a:spcBef>
                <a:spcPts val="0"/>
              </a:spcBef>
              <a:spcAft>
                <a:spcPts val="0"/>
              </a:spcAft>
            </a:pPr>
            <a:r>
              <a:rPr sz="1700" b="1">
                <a:solidFill>
                  <a:srgbClr val="001F5F"/>
                </a:solidFill>
                <a:latin typeface="Times New Roman"/>
              </a:rPr>
              <a:t>▪  </a:t>
            </a:r>
            <a:r>
              <a:rPr sz="1700" b="1">
                <a:solidFill>
                  <a:srgbClr val="1A1A1A"/>
                </a:solidFill>
                <a:latin typeface="Times New Roman"/>
              </a:rPr>
              <a:t>Risk limits, position sizes and stop loss levels used by investors in India are based on assumptions about the index data that are never actually checked against the data itself.</a:t>
            </a:r>
          </a:p>
          <a:p>
            <a:pPr algn="just">
              <a:lnSpc>
                <a:spcPct val="105000"/>
              </a:lnSpc>
              <a:spcBef>
                <a:spcPts val="1800"/>
              </a:spcBef>
              <a:spcAft>
                <a:spcPts val="0"/>
              </a:spcAft>
            </a:pPr>
            <a:r>
              <a:rPr sz="1600" b="1">
                <a:solidFill>
                  <a:srgbClr val="001F5F"/>
                </a:solidFill>
                <a:latin typeface="Times New Roman"/>
              </a:rPr>
              <a:t>▪  </a:t>
            </a:r>
            <a:r>
              <a:rPr sz="1600" b="1">
                <a:solidFill>
                  <a:srgbClr val="001F5F"/>
                </a:solidFill>
                <a:latin typeface="Times New Roman"/>
              </a:rPr>
              <a:t>Why it matters:  </a:t>
            </a:r>
            <a:r>
              <a:rPr sz="1600" b="0">
                <a:solidFill>
                  <a:srgbClr val="1A1A1A"/>
                </a:solidFill>
                <a:latin typeface="Times New Roman"/>
              </a:rPr>
              <a:t>a wrong risk number is wrong exactly on the days when it matters the most, that is on the days of a large fall.</a:t>
            </a:r>
          </a:p>
          <a:p>
            <a:pPr algn="just">
              <a:lnSpc>
                <a:spcPct val="105000"/>
              </a:lnSpc>
              <a:spcBef>
                <a:spcPts val="1000"/>
              </a:spcBef>
              <a:spcAft>
                <a:spcPts val="0"/>
              </a:spcAft>
            </a:pPr>
            <a:r>
              <a:rPr sz="1600" b="1">
                <a:solidFill>
                  <a:srgbClr val="001F5F"/>
                </a:solidFill>
                <a:latin typeface="Times New Roman"/>
              </a:rPr>
              <a:t>▪  </a:t>
            </a:r>
            <a:r>
              <a:rPr sz="1600" b="1">
                <a:solidFill>
                  <a:srgbClr val="001F5F"/>
                </a:solidFill>
                <a:latin typeface="Times New Roman"/>
              </a:rPr>
              <a:t>Why it can be checked:  </a:t>
            </a:r>
            <a:r>
              <a:rPr sz="1600" b="0">
                <a:solidFill>
                  <a:srgbClr val="1A1A1A"/>
                </a:solidFill>
                <a:latin typeface="Times New Roman"/>
              </a:rPr>
              <a:t>each question has a standard statistical test with a fixed table value, so the answer is either yes or no. There is no guesswork.</a:t>
            </a:r>
          </a:p>
          <a:p>
            <a:pPr algn="just">
              <a:lnSpc>
                <a:spcPct val="105000"/>
              </a:lnSpc>
              <a:spcBef>
                <a:spcPts val="1000"/>
              </a:spcBef>
              <a:spcAft>
                <a:spcPts val="0"/>
              </a:spcAft>
            </a:pPr>
            <a:r>
              <a:rPr sz="1600" b="1">
                <a:solidFill>
                  <a:srgbClr val="001F5F"/>
                </a:solidFill>
                <a:latin typeface="Times New Roman"/>
              </a:rPr>
              <a:t>▪  </a:t>
            </a:r>
            <a:r>
              <a:rPr sz="1600" b="1">
                <a:solidFill>
                  <a:srgbClr val="001F5F"/>
                </a:solidFill>
                <a:latin typeface="Times New Roman"/>
              </a:rPr>
              <a:t>The test that decides:  </a:t>
            </a:r>
            <a:r>
              <a:rPr sz="1600" b="0">
                <a:solidFill>
                  <a:srgbClr val="1A1A1A"/>
                </a:solidFill>
                <a:latin typeface="Times New Roman"/>
              </a:rPr>
              <a:t>if the ARCH test does not show a problem, then risk is steady and a single risk number is fine. In this data the test value is 485, which is very large, so it does show a problem.</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512064"/>
            <a:ext cx="11094720" cy="594360"/>
          </a:xfrm>
          <a:prstGeom prst="rect">
            <a:avLst/>
          </a:prstGeom>
          <a:noFill/>
        </p:spPr>
        <p:txBody>
          <a:bodyPr wrap="square" anchor="ctr">
            <a:spAutoFit/>
          </a:bodyPr>
          <a:lstStyle/>
          <a:p>
            <a:r>
              <a:rPr sz="3000" b="1">
                <a:solidFill>
                  <a:srgbClr val="001F5F"/>
                </a:solidFill>
                <a:latin typeface="Times New Roman"/>
              </a:rPr>
              <a:t>Objectives</a:t>
            </a:r>
          </a:p>
        </p:txBody>
      </p:sp>
      <p:sp>
        <p:nvSpPr>
          <p:cNvPr id="3" name="Rectangle 2"/>
          <p:cNvSpPr/>
          <p:nvPr/>
        </p:nvSpPr>
        <p:spPr>
          <a:xfrm>
            <a:off x="548640" y="1143000"/>
            <a:ext cx="2200000" cy="38100"/>
          </a:xfrm>
          <a:prstGeom prst="rect">
            <a:avLst/>
          </a:prstGeom>
          <a:solidFill>
            <a:srgbClr val="8C1D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310640"/>
            <a:ext cx="11094720" cy="4480560"/>
          </a:xfrm>
          <a:prstGeom prst="rect">
            <a:avLst/>
          </a:prstGeom>
          <a:noFill/>
        </p:spPr>
        <p:txBody>
          <a:bodyPr wrap="square">
            <a:spAutoFit/>
          </a:bodyPr>
          <a:lstStyle/>
          <a:p>
            <a:pPr algn="just">
              <a:lnSpc>
                <a:spcPct val="105000"/>
              </a:lnSpc>
              <a:spcBef>
                <a:spcPts val="0"/>
              </a:spcBef>
              <a:spcAft>
                <a:spcPts val="0"/>
              </a:spcAft>
            </a:pPr>
            <a:r>
              <a:rPr sz="1700" b="1">
                <a:solidFill>
                  <a:srgbClr val="001F5F"/>
                </a:solidFill>
                <a:latin typeface="Times New Roman"/>
              </a:rPr>
              <a:t>▪  </a:t>
            </a:r>
            <a:r>
              <a:rPr sz="1700" b="0">
                <a:solidFill>
                  <a:srgbClr val="1A1A1A"/>
                </a:solidFill>
                <a:latin typeface="Times New Roman"/>
              </a:rPr>
              <a:t>Collect the daily closing prices of the Nifty 50 and the Sensex.</a:t>
            </a:r>
          </a:p>
          <a:p>
            <a:pPr algn="just">
              <a:lnSpc>
                <a:spcPct val="105000"/>
              </a:lnSpc>
              <a:spcBef>
                <a:spcPts val="1200"/>
              </a:spcBef>
              <a:spcAft>
                <a:spcPts val="0"/>
              </a:spcAft>
            </a:pPr>
            <a:r>
              <a:rPr sz="1700" b="1">
                <a:solidFill>
                  <a:srgbClr val="001F5F"/>
                </a:solidFill>
                <a:latin typeface="Times New Roman"/>
              </a:rPr>
              <a:t>▪  </a:t>
            </a:r>
            <a:r>
              <a:rPr sz="1700" b="0">
                <a:solidFill>
                  <a:srgbClr val="1A1A1A"/>
                </a:solidFill>
                <a:latin typeface="Times New Roman"/>
              </a:rPr>
              <a:t>Change the prices into daily returns.</a:t>
            </a:r>
          </a:p>
          <a:p>
            <a:pPr algn="just">
              <a:lnSpc>
                <a:spcPct val="105000"/>
              </a:lnSpc>
              <a:spcBef>
                <a:spcPts val="1200"/>
              </a:spcBef>
              <a:spcAft>
                <a:spcPts val="0"/>
              </a:spcAft>
            </a:pPr>
            <a:r>
              <a:rPr sz="1700" b="1">
                <a:solidFill>
                  <a:srgbClr val="001F5F"/>
                </a:solidFill>
                <a:latin typeface="Times New Roman"/>
              </a:rPr>
              <a:t>▪  </a:t>
            </a:r>
            <a:r>
              <a:rPr sz="1700" b="0">
                <a:solidFill>
                  <a:srgbClr val="1A1A1A"/>
                </a:solidFill>
                <a:latin typeface="Times New Roman"/>
              </a:rPr>
              <a:t>Check whether the returns follow a normal curve.</a:t>
            </a:r>
          </a:p>
          <a:p>
            <a:pPr algn="just">
              <a:lnSpc>
                <a:spcPct val="105000"/>
              </a:lnSpc>
              <a:spcBef>
                <a:spcPts val="1200"/>
              </a:spcBef>
              <a:spcAft>
                <a:spcPts val="0"/>
              </a:spcAft>
            </a:pPr>
            <a:r>
              <a:rPr sz="1700" b="1">
                <a:solidFill>
                  <a:srgbClr val="001F5F"/>
                </a:solidFill>
                <a:latin typeface="Times New Roman"/>
              </a:rPr>
              <a:t>▪  </a:t>
            </a:r>
            <a:r>
              <a:rPr sz="1700" b="0">
                <a:solidFill>
                  <a:srgbClr val="1A1A1A"/>
                </a:solidFill>
                <a:latin typeface="Times New Roman"/>
              </a:rPr>
              <a:t>Check whether the data is stationary, using the ADF test.</a:t>
            </a:r>
          </a:p>
          <a:p>
            <a:pPr algn="just">
              <a:lnSpc>
                <a:spcPct val="105000"/>
              </a:lnSpc>
              <a:spcBef>
                <a:spcPts val="1200"/>
              </a:spcBef>
              <a:spcAft>
                <a:spcPts val="0"/>
              </a:spcAft>
            </a:pPr>
            <a:r>
              <a:rPr sz="1700" b="1">
                <a:solidFill>
                  <a:srgbClr val="001F5F"/>
                </a:solidFill>
                <a:latin typeface="Times New Roman"/>
              </a:rPr>
              <a:t>▪  </a:t>
            </a:r>
            <a:r>
              <a:rPr sz="1700" b="0">
                <a:solidFill>
                  <a:srgbClr val="1A1A1A"/>
                </a:solidFill>
                <a:latin typeface="Times New Roman"/>
              </a:rPr>
              <a:t>Check whether the direction of the market can be predicted, using the variance ratio test.</a:t>
            </a:r>
          </a:p>
          <a:p>
            <a:pPr algn="just">
              <a:lnSpc>
                <a:spcPct val="105000"/>
              </a:lnSpc>
              <a:spcBef>
                <a:spcPts val="1200"/>
              </a:spcBef>
              <a:spcAft>
                <a:spcPts val="0"/>
              </a:spcAft>
            </a:pPr>
            <a:r>
              <a:rPr sz="1700" b="1">
                <a:solidFill>
                  <a:srgbClr val="001F5F"/>
                </a:solidFill>
                <a:latin typeface="Times New Roman"/>
              </a:rPr>
              <a:t>▪  </a:t>
            </a:r>
            <a:r>
              <a:rPr sz="1700" b="0">
                <a:solidFill>
                  <a:srgbClr val="1A1A1A"/>
                </a:solidFill>
                <a:latin typeface="Times New Roman"/>
              </a:rPr>
              <a:t>Check whether big moves come together, using the Ljung-Box and ARCH tests.</a:t>
            </a:r>
          </a:p>
          <a:p>
            <a:pPr algn="just">
              <a:lnSpc>
                <a:spcPct val="105000"/>
              </a:lnSpc>
              <a:spcBef>
                <a:spcPts val="1200"/>
              </a:spcBef>
              <a:spcAft>
                <a:spcPts val="0"/>
              </a:spcAft>
            </a:pPr>
            <a:r>
              <a:rPr sz="1700" b="1">
                <a:solidFill>
                  <a:srgbClr val="001F5F"/>
                </a:solidFill>
                <a:latin typeface="Times New Roman"/>
              </a:rPr>
              <a:t>▪  </a:t>
            </a:r>
            <a:r>
              <a:rPr sz="1700" b="0">
                <a:solidFill>
                  <a:srgbClr val="1A1A1A"/>
                </a:solidFill>
                <a:latin typeface="Times New Roman"/>
              </a:rPr>
              <a:t>Fit the GARCH(1,1) model and check it again after fitting.</a:t>
            </a:r>
          </a:p>
          <a:p>
            <a:pPr algn="just">
              <a:lnSpc>
                <a:spcPct val="105000"/>
              </a:lnSpc>
              <a:spcBef>
                <a:spcPts val="1200"/>
              </a:spcBef>
              <a:spcAft>
                <a:spcPts val="0"/>
              </a:spcAft>
            </a:pPr>
            <a:r>
              <a:rPr sz="1700" b="1">
                <a:solidFill>
                  <a:srgbClr val="001F5F"/>
                </a:solidFill>
                <a:latin typeface="Times New Roman"/>
              </a:rPr>
              <a:t>▪  </a:t>
            </a:r>
            <a:r>
              <a:rPr sz="1700" b="0">
                <a:solidFill>
                  <a:srgbClr val="1A1A1A"/>
                </a:solidFill>
                <a:latin typeface="Times New Roman"/>
              </a:rPr>
              <a:t>Find the risk numbers, such as the worst daily loss and the largest fall from a peak.</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512064"/>
            <a:ext cx="11094720" cy="594360"/>
          </a:xfrm>
          <a:prstGeom prst="rect">
            <a:avLst/>
          </a:prstGeom>
          <a:noFill/>
        </p:spPr>
        <p:txBody>
          <a:bodyPr wrap="square" anchor="ctr">
            <a:spAutoFit/>
          </a:bodyPr>
          <a:lstStyle/>
          <a:p>
            <a:r>
              <a:rPr sz="3000" b="1">
                <a:solidFill>
                  <a:srgbClr val="001F5F"/>
                </a:solidFill>
                <a:latin typeface="Times New Roman"/>
              </a:rPr>
              <a:t>Literature Review — Part 1</a:t>
            </a:r>
          </a:p>
        </p:txBody>
      </p:sp>
      <p:sp>
        <p:nvSpPr>
          <p:cNvPr id="3" name="Rectangle 2"/>
          <p:cNvSpPr/>
          <p:nvPr/>
        </p:nvSpPr>
        <p:spPr>
          <a:xfrm>
            <a:off x="548640" y="1143000"/>
            <a:ext cx="2200000" cy="38100"/>
          </a:xfrm>
          <a:prstGeom prst="rect">
            <a:avLst/>
          </a:prstGeom>
          <a:solidFill>
            <a:srgbClr val="8C1D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310640"/>
            <a:ext cx="11094720" cy="4297680"/>
          </a:xfrm>
          <a:prstGeom prst="rect">
            <a:avLst/>
          </a:prstGeom>
          <a:noFill/>
        </p:spPr>
        <p:txBody>
          <a:bodyPr wrap="square">
            <a:spAutoFit/>
          </a:bodyPr>
          <a:lstStyle/>
          <a:p>
            <a:pPr algn="just">
              <a:lnSpc>
                <a:spcPct val="105000"/>
              </a:lnSpc>
              <a:spcBef>
                <a:spcPts val="0"/>
              </a:spcBef>
              <a:spcAft>
                <a:spcPts val="0"/>
              </a:spcAft>
            </a:pPr>
            <a:r>
              <a:rPr sz="1450" b="1">
                <a:solidFill>
                  <a:srgbClr val="001F5F"/>
                </a:solidFill>
                <a:latin typeface="Times New Roman"/>
              </a:rPr>
              <a:t>▪  </a:t>
            </a:r>
            <a:r>
              <a:rPr sz="1450" b="1">
                <a:solidFill>
                  <a:srgbClr val="001F5F"/>
                </a:solidFill>
                <a:latin typeface="Times New Roman"/>
              </a:rPr>
              <a:t>[1] Engle (1982), ARCH model. </a:t>
            </a:r>
            <a:r>
              <a:rPr sz="1450" b="0">
                <a:solidFill>
                  <a:srgbClr val="1A1A1A"/>
                </a:solidFill>
                <a:latin typeface="Times New Roman"/>
              </a:rPr>
              <a:t>Made a model in which the risk level can change with time, and gave a test for it. Found that risk is not fixed. The ARCH test is used here to decide whether a GARCH model is needed.</a:t>
            </a:r>
          </a:p>
          <a:p>
            <a:pPr algn="just">
              <a:lnSpc>
                <a:spcPct val="105000"/>
              </a:lnSpc>
              <a:spcBef>
                <a:spcPts val="1400"/>
              </a:spcBef>
              <a:spcAft>
                <a:spcPts val="0"/>
              </a:spcAft>
            </a:pPr>
            <a:r>
              <a:rPr sz="1450" b="1">
                <a:solidFill>
                  <a:srgbClr val="001F5F"/>
                </a:solidFill>
                <a:latin typeface="Times New Roman"/>
              </a:rPr>
              <a:t>▪  </a:t>
            </a:r>
            <a:r>
              <a:rPr sz="1450" b="1">
                <a:solidFill>
                  <a:srgbClr val="001F5F"/>
                </a:solidFill>
                <a:latin typeface="Times New Roman"/>
              </a:rPr>
              <a:t>[2] Bollerslev (1986), GARCH model. </a:t>
            </a:r>
            <a:r>
              <a:rPr sz="1450" b="0">
                <a:solidFill>
                  <a:srgbClr val="1A1A1A"/>
                </a:solidFill>
                <a:latin typeface="Times New Roman"/>
              </a:rPr>
              <a:t>Improved the ARCH model by adding the previous risk level. Found that GARCH(1,1) with three values works as well as a long ARCH model. This is the model fitted in this study.</a:t>
            </a:r>
          </a:p>
          <a:p>
            <a:pPr algn="just">
              <a:lnSpc>
                <a:spcPct val="105000"/>
              </a:lnSpc>
              <a:spcBef>
                <a:spcPts val="1400"/>
              </a:spcBef>
              <a:spcAft>
                <a:spcPts val="0"/>
              </a:spcAft>
            </a:pPr>
            <a:r>
              <a:rPr sz="1450" b="1">
                <a:solidFill>
                  <a:srgbClr val="001F5F"/>
                </a:solidFill>
                <a:latin typeface="Times New Roman"/>
              </a:rPr>
              <a:t>▪  </a:t>
            </a:r>
            <a:r>
              <a:rPr sz="1450" b="1">
                <a:solidFill>
                  <a:srgbClr val="001F5F"/>
                </a:solidFill>
                <a:latin typeface="Times New Roman"/>
              </a:rPr>
              <a:t>[3] Nelson (1991), EGARCH model. </a:t>
            </a:r>
            <a:r>
              <a:rPr sz="1450" b="0">
                <a:solidFill>
                  <a:srgbClr val="1A1A1A"/>
                </a:solidFill>
                <a:latin typeface="Times New Roman"/>
              </a:rPr>
              <a:t>Allowed a fall in price to affect risk differently from a rise. Found that a fall raises risk more. Mentioned here as a limitation, because the model used treats both the same.</a:t>
            </a:r>
          </a:p>
          <a:p>
            <a:pPr algn="just">
              <a:lnSpc>
                <a:spcPct val="105000"/>
              </a:lnSpc>
              <a:spcBef>
                <a:spcPts val="1400"/>
              </a:spcBef>
              <a:spcAft>
                <a:spcPts val="0"/>
              </a:spcAft>
            </a:pPr>
            <a:r>
              <a:rPr sz="1450" b="1">
                <a:solidFill>
                  <a:srgbClr val="001F5F"/>
                </a:solidFill>
                <a:latin typeface="Times New Roman"/>
              </a:rPr>
              <a:t>▪  </a:t>
            </a:r>
            <a:r>
              <a:rPr sz="1450" b="1">
                <a:solidFill>
                  <a:srgbClr val="001F5F"/>
                </a:solidFill>
                <a:latin typeface="Times New Roman"/>
              </a:rPr>
              <a:t>[4] Dickey and Fuller (1979), unit root test. </a:t>
            </a:r>
            <a:r>
              <a:rPr sz="1450" b="0">
                <a:solidFill>
                  <a:srgbClr val="1A1A1A"/>
                </a:solidFill>
                <a:latin typeface="Times New Roman"/>
              </a:rPr>
              <a:t>Gave the correct table values for testing whether data is stationary. Found that normal t table values cannot be used. The ADF test in this study uses these values.</a:t>
            </a:r>
          </a:p>
          <a:p>
            <a:pPr algn="just">
              <a:lnSpc>
                <a:spcPct val="105000"/>
              </a:lnSpc>
              <a:spcBef>
                <a:spcPts val="1400"/>
              </a:spcBef>
              <a:spcAft>
                <a:spcPts val="0"/>
              </a:spcAft>
            </a:pPr>
            <a:r>
              <a:rPr sz="1450" b="1">
                <a:solidFill>
                  <a:srgbClr val="001F5F"/>
                </a:solidFill>
                <a:latin typeface="Times New Roman"/>
              </a:rPr>
              <a:t>▪  </a:t>
            </a:r>
            <a:r>
              <a:rPr sz="1450" b="1">
                <a:solidFill>
                  <a:srgbClr val="001F5F"/>
                </a:solidFill>
                <a:latin typeface="Times New Roman"/>
              </a:rPr>
              <a:t>[5] Fama (1970), efficient market idea. </a:t>
            </a:r>
            <a:r>
              <a:rPr sz="1450" b="0">
                <a:solidFill>
                  <a:srgbClr val="1A1A1A"/>
                </a:solidFill>
                <a:latin typeface="Times New Roman"/>
              </a:rPr>
              <a:t>Collected the work on whether prices already contain all known information. Found that if a market is efficient, past prices cannot predict the future direction.</a:t>
            </a:r>
          </a:p>
        </p:txBody>
      </p:sp>
      <p:sp>
        <p:nvSpPr>
          <p:cNvPr id="5" name="TextBox 4"/>
          <p:cNvSpPr txBox="1"/>
          <p:nvPr/>
        </p:nvSpPr>
        <p:spPr>
          <a:xfrm>
            <a:off x="548640" y="6172200"/>
            <a:ext cx="11094720" cy="274320"/>
          </a:xfrm>
          <a:prstGeom prst="rect">
            <a:avLst/>
          </a:prstGeom>
          <a:noFill/>
        </p:spPr>
        <p:txBody>
          <a:bodyPr wrap="square">
            <a:spAutoFit/>
          </a:bodyPr>
          <a:lstStyle/>
          <a:p>
            <a:r>
              <a:rPr sz="1100" i="1">
                <a:solidFill>
                  <a:srgbClr val="5A5A5A"/>
                </a:solidFill>
                <a:latin typeface="Times New Roman"/>
              </a:rPr>
              <a:t>These papers created the tests and the models used in this study.</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512064"/>
            <a:ext cx="11094720" cy="594360"/>
          </a:xfrm>
          <a:prstGeom prst="rect">
            <a:avLst/>
          </a:prstGeom>
          <a:noFill/>
        </p:spPr>
        <p:txBody>
          <a:bodyPr wrap="square" anchor="ctr">
            <a:spAutoFit/>
          </a:bodyPr>
          <a:lstStyle/>
          <a:p>
            <a:r>
              <a:rPr sz="3000" b="1">
                <a:solidFill>
                  <a:srgbClr val="001F5F"/>
                </a:solidFill>
                <a:latin typeface="Times New Roman"/>
              </a:rPr>
              <a:t>Literature Review — Part 2</a:t>
            </a:r>
          </a:p>
        </p:txBody>
      </p:sp>
      <p:sp>
        <p:nvSpPr>
          <p:cNvPr id="3" name="Rectangle 2"/>
          <p:cNvSpPr/>
          <p:nvPr/>
        </p:nvSpPr>
        <p:spPr>
          <a:xfrm>
            <a:off x="548640" y="1143000"/>
            <a:ext cx="2200000" cy="38100"/>
          </a:xfrm>
          <a:prstGeom prst="rect">
            <a:avLst/>
          </a:prstGeom>
          <a:solidFill>
            <a:srgbClr val="8C1D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310640"/>
            <a:ext cx="11094720" cy="4297680"/>
          </a:xfrm>
          <a:prstGeom prst="rect">
            <a:avLst/>
          </a:prstGeom>
          <a:noFill/>
        </p:spPr>
        <p:txBody>
          <a:bodyPr wrap="square">
            <a:spAutoFit/>
          </a:bodyPr>
          <a:lstStyle/>
          <a:p>
            <a:pPr algn="just">
              <a:lnSpc>
                <a:spcPct val="105000"/>
              </a:lnSpc>
              <a:spcBef>
                <a:spcPts val="0"/>
              </a:spcBef>
              <a:spcAft>
                <a:spcPts val="0"/>
              </a:spcAft>
            </a:pPr>
            <a:r>
              <a:rPr sz="1450" b="1">
                <a:solidFill>
                  <a:srgbClr val="001F5F"/>
                </a:solidFill>
                <a:latin typeface="Times New Roman"/>
              </a:rPr>
              <a:t>▪  </a:t>
            </a:r>
            <a:r>
              <a:rPr sz="1450" b="1">
                <a:solidFill>
                  <a:srgbClr val="001F5F"/>
                </a:solidFill>
                <a:latin typeface="Times New Roman"/>
              </a:rPr>
              <a:t>[6] Lo and MacKinlay (1988), variance ratio test. </a:t>
            </a:r>
            <a:r>
              <a:rPr sz="1450" b="0">
                <a:solidFill>
                  <a:srgbClr val="1A1A1A"/>
                </a:solidFill>
                <a:latin typeface="Times New Roman"/>
              </a:rPr>
              <a:t>Gave a test based on how the spread of returns grows over longer periods. Found the test must be corrected for changing risk. The corrected form is used in the code here.</a:t>
            </a:r>
          </a:p>
          <a:p>
            <a:pPr algn="just">
              <a:lnSpc>
                <a:spcPct val="105000"/>
              </a:lnSpc>
              <a:spcBef>
                <a:spcPts val="1400"/>
              </a:spcBef>
              <a:spcAft>
                <a:spcPts val="0"/>
              </a:spcAft>
            </a:pPr>
            <a:r>
              <a:rPr sz="1450" b="1">
                <a:solidFill>
                  <a:srgbClr val="001F5F"/>
                </a:solidFill>
                <a:latin typeface="Times New Roman"/>
              </a:rPr>
              <a:t>▪  </a:t>
            </a:r>
            <a:r>
              <a:rPr sz="1450" b="1">
                <a:solidFill>
                  <a:srgbClr val="001F5F"/>
                </a:solidFill>
                <a:latin typeface="Times New Roman"/>
              </a:rPr>
              <a:t>[7] Srinivasan and Ibrahim (2010), Sensex study. </a:t>
            </a:r>
            <a:r>
              <a:rPr sz="1450" b="0">
                <a:solidFill>
                  <a:srgbClr val="1A1A1A"/>
                </a:solidFill>
                <a:latin typeface="Times New Roman"/>
              </a:rPr>
              <a:t>Compared GARCH, EGARCH and TGARCH on daily Sensex returns. Found the simple GARCH(1,1) worked well. This is the closest earlier study, but it uses a shorter period.</a:t>
            </a:r>
          </a:p>
          <a:p>
            <a:pPr algn="just">
              <a:lnSpc>
                <a:spcPct val="105000"/>
              </a:lnSpc>
              <a:spcBef>
                <a:spcPts val="1400"/>
              </a:spcBef>
              <a:spcAft>
                <a:spcPts val="0"/>
              </a:spcAft>
            </a:pPr>
            <a:r>
              <a:rPr sz="1450" b="1">
                <a:solidFill>
                  <a:srgbClr val="001F5F"/>
                </a:solidFill>
                <a:latin typeface="Times New Roman"/>
              </a:rPr>
              <a:t>▪  </a:t>
            </a:r>
            <a:r>
              <a:rPr sz="1450" b="1">
                <a:solidFill>
                  <a:srgbClr val="001F5F"/>
                </a:solidFill>
                <a:latin typeface="Times New Roman"/>
              </a:rPr>
              <a:t>[8] Mahajan and others (2022), Nifty 50 study. </a:t>
            </a:r>
            <a:r>
              <a:rPr sz="1450" b="0">
                <a:solidFill>
                  <a:srgbClr val="1A1A1A"/>
                </a:solidFill>
                <a:latin typeface="Times New Roman"/>
              </a:rPr>
              <a:t>Compared GARCH models with a neural network on the Nifty 50. Found GARCH was still as good as the neural network. It shows GARCH(1,1) is a fair choice for this index.</a:t>
            </a:r>
          </a:p>
          <a:p>
            <a:pPr algn="just">
              <a:lnSpc>
                <a:spcPct val="105000"/>
              </a:lnSpc>
              <a:spcBef>
                <a:spcPts val="1400"/>
              </a:spcBef>
              <a:spcAft>
                <a:spcPts val="0"/>
              </a:spcAft>
            </a:pPr>
            <a:r>
              <a:rPr sz="1450" b="1">
                <a:solidFill>
                  <a:srgbClr val="001F5F"/>
                </a:solidFill>
                <a:latin typeface="Times New Roman"/>
              </a:rPr>
              <a:t>▪  </a:t>
            </a:r>
            <a:r>
              <a:rPr sz="1450" b="1">
                <a:solidFill>
                  <a:srgbClr val="001F5F"/>
                </a:solidFill>
                <a:latin typeface="Times New Roman"/>
              </a:rPr>
              <a:t>[9] Satapathy (2025), random walk test. </a:t>
            </a:r>
            <a:r>
              <a:rPr sz="1450" b="0">
                <a:solidFill>
                  <a:srgbClr val="1A1A1A"/>
                </a:solidFill>
                <a:latin typeface="Times New Roman"/>
              </a:rPr>
              <a:t>Tested the Nifty and 50 large shares with variance ratio and Hurst tests. Could not prove that prices are predictable. This is the most recent study of this type and it agrees with the result found here.</a:t>
            </a:r>
          </a:p>
        </p:txBody>
      </p:sp>
      <p:sp>
        <p:nvSpPr>
          <p:cNvPr id="5" name="TextBox 4"/>
          <p:cNvSpPr txBox="1"/>
          <p:nvPr/>
        </p:nvSpPr>
        <p:spPr>
          <a:xfrm>
            <a:off x="548640" y="6172200"/>
            <a:ext cx="11094720" cy="274320"/>
          </a:xfrm>
          <a:prstGeom prst="rect">
            <a:avLst/>
          </a:prstGeom>
          <a:noFill/>
        </p:spPr>
        <p:txBody>
          <a:bodyPr wrap="square">
            <a:spAutoFit/>
          </a:bodyPr>
          <a:lstStyle/>
          <a:p>
            <a:r>
              <a:rPr sz="1100" i="1">
                <a:solidFill>
                  <a:srgbClr val="5A5A5A"/>
                </a:solidFill>
                <a:latin typeface="Times New Roman"/>
              </a:rPr>
              <a:t>These papers applied the same tests to the Indian market.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512064"/>
            <a:ext cx="11094720" cy="594360"/>
          </a:xfrm>
          <a:prstGeom prst="rect">
            <a:avLst/>
          </a:prstGeom>
          <a:noFill/>
        </p:spPr>
        <p:txBody>
          <a:bodyPr wrap="square" anchor="ctr">
            <a:spAutoFit/>
          </a:bodyPr>
          <a:lstStyle/>
          <a:p>
            <a:r>
              <a:rPr sz="3000" b="1">
                <a:solidFill>
                  <a:srgbClr val="001F5F"/>
                </a:solidFill>
                <a:latin typeface="Times New Roman"/>
              </a:rPr>
              <a:t>Gap Found</a:t>
            </a:r>
          </a:p>
        </p:txBody>
      </p:sp>
      <p:sp>
        <p:nvSpPr>
          <p:cNvPr id="3" name="Rectangle 2"/>
          <p:cNvSpPr/>
          <p:nvPr/>
        </p:nvSpPr>
        <p:spPr>
          <a:xfrm>
            <a:off x="548640" y="1143000"/>
            <a:ext cx="2200000" cy="38100"/>
          </a:xfrm>
          <a:prstGeom prst="rect">
            <a:avLst/>
          </a:prstGeom>
          <a:solidFill>
            <a:srgbClr val="8C1D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310640"/>
            <a:ext cx="11094720" cy="4480560"/>
          </a:xfrm>
          <a:prstGeom prst="rect">
            <a:avLst/>
          </a:prstGeom>
          <a:noFill/>
        </p:spPr>
        <p:txBody>
          <a:bodyPr wrap="square">
            <a:spAutoFit/>
          </a:bodyPr>
          <a:lstStyle/>
          <a:p>
            <a:pPr algn="just">
              <a:lnSpc>
                <a:spcPct val="105000"/>
              </a:lnSpc>
              <a:spcBef>
                <a:spcPts val="0"/>
              </a:spcBef>
              <a:spcAft>
                <a:spcPts val="0"/>
              </a:spcAft>
            </a:pPr>
            <a:r>
              <a:rPr sz="1650" b="1">
                <a:solidFill>
                  <a:srgbClr val="001F5F"/>
                </a:solidFill>
                <a:latin typeface="Times New Roman"/>
              </a:rPr>
              <a:t>▪  </a:t>
            </a:r>
            <a:r>
              <a:rPr sz="1650" b="1">
                <a:solidFill>
                  <a:srgbClr val="001F5F"/>
                </a:solidFill>
                <a:latin typeface="Times New Roman"/>
              </a:rPr>
              <a:t>Papers on market efficiency:  </a:t>
            </a:r>
            <a:r>
              <a:rPr sz="1650" b="0">
                <a:solidFill>
                  <a:srgbClr val="1A1A1A"/>
                </a:solidFill>
                <a:latin typeface="Times New Roman"/>
              </a:rPr>
              <a:t>they check whether the direction can be predicted, and stop there. They do not look at the risk level at all.</a:t>
            </a:r>
          </a:p>
          <a:p>
            <a:pPr algn="just">
              <a:lnSpc>
                <a:spcPct val="105000"/>
              </a:lnSpc>
              <a:spcBef>
                <a:spcPts val="1600"/>
              </a:spcBef>
              <a:spcAft>
                <a:spcPts val="0"/>
              </a:spcAft>
            </a:pPr>
            <a:r>
              <a:rPr sz="1650" b="1">
                <a:solidFill>
                  <a:srgbClr val="001F5F"/>
                </a:solidFill>
                <a:latin typeface="Times New Roman"/>
              </a:rPr>
              <a:t>▪  </a:t>
            </a:r>
            <a:r>
              <a:rPr sz="1650" b="1">
                <a:solidFill>
                  <a:srgbClr val="001F5F"/>
                </a:solidFill>
                <a:latin typeface="Times New Roman"/>
              </a:rPr>
              <a:t>Papers on volatility:  </a:t>
            </a:r>
            <a:r>
              <a:rPr sz="1650" b="0">
                <a:solidFill>
                  <a:srgbClr val="1A1A1A"/>
                </a:solidFill>
                <a:latin typeface="Times New Roman"/>
              </a:rPr>
              <a:t>they fit a model for risk but do not test efficiency on the same data, and do not say how much the wrong assumption can cost.</a:t>
            </a:r>
          </a:p>
          <a:p>
            <a:pPr algn="just">
              <a:lnSpc>
                <a:spcPct val="105000"/>
              </a:lnSpc>
              <a:spcBef>
                <a:spcPts val="1600"/>
              </a:spcBef>
              <a:spcAft>
                <a:spcPts val="0"/>
              </a:spcAft>
            </a:pPr>
            <a:r>
              <a:rPr sz="1650" b="1">
                <a:solidFill>
                  <a:srgbClr val="001F5F"/>
                </a:solidFill>
                <a:latin typeface="Times New Roman"/>
              </a:rPr>
              <a:t>▪  </a:t>
            </a:r>
            <a:r>
              <a:rPr sz="1650" b="1">
                <a:solidFill>
                  <a:srgbClr val="001F5F"/>
                </a:solidFill>
                <a:latin typeface="Times New Roman"/>
              </a:rPr>
              <a:t>Papers on the Indian market:  </a:t>
            </a:r>
            <a:r>
              <a:rPr sz="1650" b="0">
                <a:solidFill>
                  <a:srgbClr val="1A1A1A"/>
                </a:solidFill>
                <a:latin typeface="Times New Roman"/>
              </a:rPr>
              <a:t>most of them end before 2020, so they leave out the Covid period. That period had the highest risk level in this whole data set, about 92 per cent.</a:t>
            </a:r>
          </a:p>
          <a:p>
            <a:pPr algn="just">
              <a:lnSpc>
                <a:spcPct val="105000"/>
              </a:lnSpc>
              <a:spcBef>
                <a:spcPts val="1600"/>
              </a:spcBef>
              <a:spcAft>
                <a:spcPts val="0"/>
              </a:spcAft>
            </a:pPr>
            <a:r>
              <a:rPr sz="1650" b="1">
                <a:solidFill>
                  <a:srgbClr val="001F5F"/>
                </a:solidFill>
                <a:latin typeface="Times New Roman"/>
              </a:rPr>
              <a:t>▪  </a:t>
            </a:r>
            <a:r>
              <a:rPr sz="1650" b="1">
                <a:solidFill>
                  <a:srgbClr val="001F5F"/>
                </a:solidFill>
                <a:latin typeface="Times New Roman"/>
              </a:rPr>
              <a:t>What is missing:  </a:t>
            </a:r>
            <a:r>
              <a:rPr sz="1650" b="0">
                <a:solidFill>
                  <a:srgbClr val="1A1A1A"/>
                </a:solidFill>
                <a:latin typeface="Times New Roman"/>
              </a:rPr>
              <a:t>no paper does all these checks together, on both indexes, on data that includes 2020 and after.</a:t>
            </a:r>
          </a:p>
        </p:txBody>
      </p:sp>
      <p:sp>
        <p:nvSpPr>
          <p:cNvPr id="5" name="TextBox 4"/>
          <p:cNvSpPr txBox="1"/>
          <p:nvPr/>
        </p:nvSpPr>
        <p:spPr>
          <a:xfrm>
            <a:off x="548640" y="6172200"/>
            <a:ext cx="11094720" cy="274320"/>
          </a:xfrm>
          <a:prstGeom prst="rect">
            <a:avLst/>
          </a:prstGeom>
          <a:noFill/>
        </p:spPr>
        <p:txBody>
          <a:bodyPr wrap="square">
            <a:spAutoFit/>
          </a:bodyPr>
          <a:lstStyle/>
          <a:p>
            <a:r>
              <a:rPr sz="1100" i="1">
                <a:solidFill>
                  <a:srgbClr val="5A5A5A"/>
                </a:solidFill>
                <a:latin typeface="Times New Roman"/>
              </a:rPr>
              <a:t>This case study fills that gap.</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512064"/>
            <a:ext cx="11094720" cy="594360"/>
          </a:xfrm>
          <a:prstGeom prst="rect">
            <a:avLst/>
          </a:prstGeom>
          <a:noFill/>
        </p:spPr>
        <p:txBody>
          <a:bodyPr wrap="square" anchor="ctr">
            <a:spAutoFit/>
          </a:bodyPr>
          <a:lstStyle/>
          <a:p>
            <a:r>
              <a:rPr sz="3000" b="1">
                <a:solidFill>
                  <a:srgbClr val="001F5F"/>
                </a:solidFill>
                <a:latin typeface="Times New Roman"/>
              </a:rPr>
              <a:t>Method</a:t>
            </a:r>
          </a:p>
        </p:txBody>
      </p:sp>
      <p:sp>
        <p:nvSpPr>
          <p:cNvPr id="3" name="Rectangle 2"/>
          <p:cNvSpPr/>
          <p:nvPr/>
        </p:nvSpPr>
        <p:spPr>
          <a:xfrm>
            <a:off x="548640" y="1143000"/>
            <a:ext cx="2200000" cy="38100"/>
          </a:xfrm>
          <a:prstGeom prst="rect">
            <a:avLst/>
          </a:prstGeom>
          <a:solidFill>
            <a:srgbClr val="8C1D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310640"/>
            <a:ext cx="11094720" cy="900000"/>
          </a:xfrm>
          <a:prstGeom prst="rect">
            <a:avLst/>
          </a:prstGeom>
          <a:noFill/>
        </p:spPr>
        <p:txBody>
          <a:bodyPr wrap="square">
            <a:spAutoFit/>
          </a:bodyPr>
          <a:lstStyle/>
          <a:p>
            <a:pPr algn="just">
              <a:lnSpc>
                <a:spcPct val="105000"/>
              </a:lnSpc>
              <a:spcBef>
                <a:spcPts val="0"/>
              </a:spcBef>
              <a:spcAft>
                <a:spcPts val="0"/>
              </a:spcAft>
            </a:pPr>
            <a:r>
              <a:rPr sz="1500" b="1">
                <a:solidFill>
                  <a:srgbClr val="001F5F"/>
                </a:solidFill>
                <a:latin typeface="Times New Roman"/>
              </a:rPr>
              <a:t>▪  </a:t>
            </a:r>
            <a:r>
              <a:rPr sz="1500" b="0">
                <a:solidFill>
                  <a:srgbClr val="1A1A1A"/>
                </a:solidFill>
                <a:latin typeface="Times New Roman"/>
              </a:rPr>
              <a:t>Each test decides whether the next test is useful. The GARCH model is fitted only if the ARCH test shows a problem, and the model is checked once more after fitting.</a:t>
            </a:r>
          </a:p>
        </p:txBody>
      </p:sp>
      <p:pic>
        <p:nvPicPr>
          <p:cNvPr id="5" name="Picture 4" descr="fig7_block.png"/>
          <p:cNvPicPr>
            <a:picLocks noChangeAspect="1"/>
          </p:cNvPicPr>
          <p:nvPr/>
        </p:nvPicPr>
        <p:blipFill>
          <a:blip r:embed="rId2"/>
          <a:stretch>
            <a:fillRect/>
          </a:stretch>
        </p:blipFill>
        <p:spPr>
          <a:xfrm>
            <a:off x="563880" y="2225040"/>
            <a:ext cx="11064240" cy="3540557"/>
          </a:xfrm>
          <a:prstGeom prst="rect">
            <a:avLst/>
          </a:prstGeom>
        </p:spPr>
      </p:pic>
      <p:sp>
        <p:nvSpPr>
          <p:cNvPr id="6" name="TextBox 5"/>
          <p:cNvSpPr txBox="1"/>
          <p:nvPr/>
        </p:nvSpPr>
        <p:spPr>
          <a:xfrm>
            <a:off x="548640" y="5943600"/>
            <a:ext cx="11094720" cy="274320"/>
          </a:xfrm>
          <a:prstGeom prst="rect">
            <a:avLst/>
          </a:prstGeom>
          <a:noFill/>
        </p:spPr>
        <p:txBody>
          <a:bodyPr wrap="square">
            <a:spAutoFit/>
          </a:bodyPr>
          <a:lstStyle/>
          <a:p>
            <a:r>
              <a:rPr sz="1100" i="1">
                <a:solidFill>
                  <a:srgbClr val="5A5A5A"/>
                </a:solidFill>
                <a:latin typeface="Times New Roman"/>
              </a:rPr>
              <a:t>The dotted line shows that the model is changed and checked again if the problem is still there.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512064"/>
            <a:ext cx="11094720" cy="594360"/>
          </a:xfrm>
          <a:prstGeom prst="rect">
            <a:avLst/>
          </a:prstGeom>
          <a:noFill/>
        </p:spPr>
        <p:txBody>
          <a:bodyPr wrap="square" anchor="ctr">
            <a:spAutoFit/>
          </a:bodyPr>
          <a:lstStyle/>
          <a:p>
            <a:r>
              <a:rPr sz="3000" b="1">
                <a:solidFill>
                  <a:srgbClr val="001F5F"/>
                </a:solidFill>
                <a:latin typeface="Times New Roman"/>
              </a:rPr>
              <a:t>Data and Tools Used</a:t>
            </a:r>
          </a:p>
        </p:txBody>
      </p:sp>
      <p:sp>
        <p:nvSpPr>
          <p:cNvPr id="3" name="Rectangle 2"/>
          <p:cNvSpPr/>
          <p:nvPr/>
        </p:nvSpPr>
        <p:spPr>
          <a:xfrm>
            <a:off x="548640" y="1143000"/>
            <a:ext cx="2200000" cy="38100"/>
          </a:xfrm>
          <a:prstGeom prst="rect">
            <a:avLst/>
          </a:prstGeom>
          <a:solidFill>
            <a:srgbClr val="8C1D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1143000" y="1310640"/>
          <a:ext cx="9906000" cy="800100"/>
        </p:xfrm>
        <a:graphic>
          <a:graphicData uri="http://schemas.openxmlformats.org/drawingml/2006/table">
            <a:tbl>
              <a:tblPr firstRow="0" bandRow="0">
                <a:tableStyleId>{5C22544A-7EE6-4342-B048-85BDC9FD1C3A}</a:tableStyleId>
              </a:tblPr>
              <a:tblGrid>
                <a:gridCol w="2286000"/>
                <a:gridCol w="1828800"/>
                <a:gridCol w="4114800"/>
                <a:gridCol w="1676400"/>
              </a:tblGrid>
              <a:tr h="266700">
                <a:tc>
                  <a:txBody>
                    <a:bodyPr wrap="square"/>
                    <a:lstStyle/>
                    <a:p>
                      <a:pPr algn="ctr"/>
                      <a:r>
                        <a:rPr sz="1300" b="1">
                          <a:solidFill>
                            <a:srgbClr val="FFFFFF"/>
                          </a:solidFill>
                          <a:latin typeface="Times New Roman"/>
                        </a:rPr>
                        <a:t>Index</a:t>
                      </a:r>
                    </a:p>
                  </a:txBody>
                  <a:tcPr anchor="ctr" marL="45720" marR="45720" marT="18288" marB="18288">
                    <a:solidFill>
                      <a:srgbClr val="001F5F"/>
                    </a:solidFill>
                  </a:tcPr>
                </a:tc>
                <a:tc>
                  <a:txBody>
                    <a:bodyPr wrap="square"/>
                    <a:lstStyle/>
                    <a:p>
                      <a:pPr algn="ctr"/>
                      <a:r>
                        <a:rPr sz="1300" b="1">
                          <a:solidFill>
                            <a:srgbClr val="FFFFFF"/>
                          </a:solidFill>
                          <a:latin typeface="Times New Roman"/>
                        </a:rPr>
                        <a:t>Symbol</a:t>
                      </a:r>
                    </a:p>
                  </a:txBody>
                  <a:tcPr anchor="ctr" marL="45720" marR="45720" marT="18288" marB="18288">
                    <a:solidFill>
                      <a:srgbClr val="001F5F"/>
                    </a:solidFill>
                  </a:tcPr>
                </a:tc>
                <a:tc>
                  <a:txBody>
                    <a:bodyPr wrap="square"/>
                    <a:lstStyle/>
                    <a:p>
                      <a:pPr algn="ctr"/>
                      <a:r>
                        <a:rPr sz="1300" b="1">
                          <a:solidFill>
                            <a:srgbClr val="FFFFFF"/>
                          </a:solidFill>
                          <a:latin typeface="Times New Roman"/>
                        </a:rPr>
                        <a:t>Period</a:t>
                      </a:r>
                    </a:p>
                  </a:txBody>
                  <a:tcPr anchor="ctr" marL="45720" marR="45720" marT="18288" marB="18288">
                    <a:solidFill>
                      <a:srgbClr val="001F5F"/>
                    </a:solidFill>
                  </a:tcPr>
                </a:tc>
                <a:tc>
                  <a:txBody>
                    <a:bodyPr wrap="square"/>
                    <a:lstStyle/>
                    <a:p>
                      <a:pPr algn="ctr"/>
                      <a:r>
                        <a:rPr sz="1300" b="1">
                          <a:solidFill>
                            <a:srgbClr val="FFFFFF"/>
                          </a:solidFill>
                          <a:latin typeface="Times New Roman"/>
                        </a:rPr>
                        <a:t>Days</a:t>
                      </a:r>
                    </a:p>
                  </a:txBody>
                  <a:tcPr anchor="ctr" marL="45720" marR="45720" marT="18288" marB="18288">
                    <a:solidFill>
                      <a:srgbClr val="001F5F"/>
                    </a:solidFill>
                  </a:tcPr>
                </a:tc>
              </a:tr>
              <a:tr h="266700">
                <a:tc>
                  <a:txBody>
                    <a:bodyPr wrap="square"/>
                    <a:lstStyle/>
                    <a:p>
                      <a:pPr algn="l"/>
                      <a:r>
                        <a:rPr sz="1300" b="0">
                          <a:solidFill>
                            <a:srgbClr val="1A1A1A"/>
                          </a:solidFill>
                          <a:latin typeface="Times New Roman"/>
                        </a:rPr>
                        <a:t>Nifty 50</a:t>
                      </a:r>
                    </a:p>
                  </a:txBody>
                  <a:tcPr anchor="ctr" marL="45720" marR="45720" marT="18288" marB="18288">
                    <a:solidFill>
                      <a:srgbClr val="FFFFFF"/>
                    </a:solidFill>
                  </a:tcPr>
                </a:tc>
                <a:tc>
                  <a:txBody>
                    <a:bodyPr wrap="square"/>
                    <a:lstStyle/>
                    <a:p>
                      <a:pPr algn="ctr"/>
                      <a:r>
                        <a:rPr sz="1300" b="0">
                          <a:solidFill>
                            <a:srgbClr val="1A1A1A"/>
                          </a:solidFill>
                          <a:latin typeface="Times New Roman"/>
                        </a:rPr>
                        <a:t>^NSEI</a:t>
                      </a:r>
                    </a:p>
                  </a:txBody>
                  <a:tcPr anchor="ctr" marL="45720" marR="45720" marT="18288" marB="18288">
                    <a:solidFill>
                      <a:srgbClr val="FFFFFF"/>
                    </a:solidFill>
                  </a:tcPr>
                </a:tc>
                <a:tc>
                  <a:txBody>
                    <a:bodyPr wrap="square"/>
                    <a:lstStyle/>
                    <a:p>
                      <a:pPr algn="ctr"/>
                      <a:r>
                        <a:rPr sz="1300" b="0">
                          <a:solidFill>
                            <a:srgbClr val="1A1A1A"/>
                          </a:solidFill>
                          <a:latin typeface="Times New Roman"/>
                        </a:rPr>
                        <a:t>2007-09-17 to 2026-08-27</a:t>
                      </a:r>
                    </a:p>
                  </a:txBody>
                  <a:tcPr anchor="ctr" marL="45720" marR="45720" marT="18288" marB="18288">
                    <a:solidFill>
                      <a:srgbClr val="FFFFFF"/>
                    </a:solidFill>
                  </a:tcPr>
                </a:tc>
                <a:tc>
                  <a:txBody>
                    <a:bodyPr wrap="square"/>
                    <a:lstStyle/>
                    <a:p>
                      <a:pPr algn="ctr"/>
                      <a:r>
                        <a:rPr sz="1300" b="0">
                          <a:solidFill>
                            <a:srgbClr val="1A1A1A"/>
                          </a:solidFill>
                          <a:latin typeface="Times New Roman"/>
                        </a:rPr>
                        <a:t>4,648</a:t>
                      </a:r>
                    </a:p>
                  </a:txBody>
                  <a:tcPr anchor="ctr" marL="45720" marR="45720" marT="18288" marB="18288">
                    <a:solidFill>
                      <a:srgbClr val="FFFFFF"/>
                    </a:solidFill>
                  </a:tcPr>
                </a:tc>
              </a:tr>
              <a:tr h="266700">
                <a:tc>
                  <a:txBody>
                    <a:bodyPr wrap="square"/>
                    <a:lstStyle/>
                    <a:p>
                      <a:pPr algn="l"/>
                      <a:r>
                        <a:rPr sz="1300" b="0">
                          <a:solidFill>
                            <a:srgbClr val="1A1A1A"/>
                          </a:solidFill>
                          <a:latin typeface="Times New Roman"/>
                        </a:rPr>
                        <a:t>Sensex</a:t>
                      </a:r>
                    </a:p>
                  </a:txBody>
                  <a:tcPr anchor="ctr" marL="45720" marR="45720" marT="18288" marB="18288">
                    <a:solidFill>
                      <a:srgbClr val="EEF1F7"/>
                    </a:solidFill>
                  </a:tcPr>
                </a:tc>
                <a:tc>
                  <a:txBody>
                    <a:bodyPr wrap="square"/>
                    <a:lstStyle/>
                    <a:p>
                      <a:pPr algn="ctr"/>
                      <a:r>
                        <a:rPr sz="1300" b="0">
                          <a:solidFill>
                            <a:srgbClr val="1A1A1A"/>
                          </a:solidFill>
                          <a:latin typeface="Times New Roman"/>
                        </a:rPr>
                        <a:t>^BSESN</a:t>
                      </a:r>
                    </a:p>
                  </a:txBody>
                  <a:tcPr anchor="ctr" marL="45720" marR="45720" marT="18288" marB="18288">
                    <a:solidFill>
                      <a:srgbClr val="EEF1F7"/>
                    </a:solidFill>
                  </a:tcPr>
                </a:tc>
                <a:tc>
                  <a:txBody>
                    <a:bodyPr wrap="square"/>
                    <a:lstStyle/>
                    <a:p>
                      <a:pPr algn="ctr"/>
                      <a:r>
                        <a:rPr sz="1300" b="0">
                          <a:solidFill>
                            <a:srgbClr val="1A1A1A"/>
                          </a:solidFill>
                          <a:latin typeface="Times New Roman"/>
                        </a:rPr>
                        <a:t>2000-01-03 to 2026-08-27</a:t>
                      </a:r>
                    </a:p>
                  </a:txBody>
                  <a:tcPr anchor="ctr" marL="45720" marR="45720" marT="18288" marB="18288">
                    <a:solidFill>
                      <a:srgbClr val="EEF1F7"/>
                    </a:solidFill>
                  </a:tcPr>
                </a:tc>
                <a:tc>
                  <a:txBody>
                    <a:bodyPr wrap="square"/>
                    <a:lstStyle/>
                    <a:p>
                      <a:pPr algn="ctr"/>
                      <a:r>
                        <a:rPr sz="1300" b="0">
                          <a:solidFill>
                            <a:srgbClr val="1A1A1A"/>
                          </a:solidFill>
                          <a:latin typeface="Times New Roman"/>
                        </a:rPr>
                        <a:t>6,571</a:t>
                      </a:r>
                    </a:p>
                  </a:txBody>
                  <a:tcPr anchor="ctr" marL="45720" marR="45720" marT="18288" marB="18288">
                    <a:solidFill>
                      <a:srgbClr val="EEF1F7"/>
                    </a:solidFill>
                  </a:tcPr>
                </a:tc>
              </a:tr>
            </a:tbl>
          </a:graphicData>
        </a:graphic>
      </p:graphicFrame>
      <p:graphicFrame>
        <p:nvGraphicFramePr>
          <p:cNvPr id="5" name="Table 4"/>
          <p:cNvGraphicFramePr>
            <a:graphicFrameLocks noGrp="1"/>
          </p:cNvGraphicFramePr>
          <p:nvPr/>
        </p:nvGraphicFramePr>
        <p:xfrm>
          <a:off x="1143000" y="2377440"/>
          <a:ext cx="9906000" cy="2286000"/>
        </p:xfrm>
        <a:graphic>
          <a:graphicData uri="http://schemas.openxmlformats.org/drawingml/2006/table">
            <a:tbl>
              <a:tblPr firstRow="0" bandRow="0">
                <a:tableStyleId>{5C22544A-7EE6-4342-B048-85BDC9FD1C3A}</a:tableStyleId>
              </a:tblPr>
              <a:tblGrid>
                <a:gridCol w="3200400"/>
                <a:gridCol w="6705600"/>
              </a:tblGrid>
              <a:tr h="326571">
                <a:tc>
                  <a:txBody>
                    <a:bodyPr wrap="square"/>
                    <a:lstStyle/>
                    <a:p>
                      <a:pPr algn="ctr"/>
                      <a:r>
                        <a:rPr sz="1300" b="1">
                          <a:solidFill>
                            <a:srgbClr val="FFFFFF"/>
                          </a:solidFill>
                          <a:latin typeface="Times New Roman"/>
                        </a:rPr>
                        <a:t>R package</a:t>
                      </a:r>
                    </a:p>
                  </a:txBody>
                  <a:tcPr anchor="ctr" marL="45720" marR="45720" marT="18288" marB="18288">
                    <a:solidFill>
                      <a:srgbClr val="001F5F"/>
                    </a:solidFill>
                  </a:tcPr>
                </a:tc>
                <a:tc>
                  <a:txBody>
                    <a:bodyPr wrap="square"/>
                    <a:lstStyle/>
                    <a:p>
                      <a:pPr algn="ctr"/>
                      <a:r>
                        <a:rPr sz="1300" b="1">
                          <a:solidFill>
                            <a:srgbClr val="FFFFFF"/>
                          </a:solidFill>
                          <a:latin typeface="Times New Roman"/>
                        </a:rPr>
                        <a:t>What it is used for</a:t>
                      </a:r>
                    </a:p>
                  </a:txBody>
                  <a:tcPr anchor="ctr" marL="45720" marR="45720" marT="18288" marB="18288">
                    <a:solidFill>
                      <a:srgbClr val="001F5F"/>
                    </a:solidFill>
                  </a:tcPr>
                </a:tc>
              </a:tr>
              <a:tr h="326571">
                <a:tc>
                  <a:txBody>
                    <a:bodyPr wrap="square"/>
                    <a:lstStyle/>
                    <a:p>
                      <a:pPr algn="l"/>
                      <a:r>
                        <a:rPr sz="1300" b="0">
                          <a:solidFill>
                            <a:srgbClr val="1A1A1A"/>
                          </a:solidFill>
                          <a:latin typeface="Times New Roman"/>
                        </a:rPr>
                        <a:t>quantmod</a:t>
                      </a:r>
                    </a:p>
                  </a:txBody>
                  <a:tcPr anchor="ctr" marL="45720" marR="45720" marT="18288" marB="18288">
                    <a:solidFill>
                      <a:srgbClr val="FFFFFF"/>
                    </a:solidFill>
                  </a:tcPr>
                </a:tc>
                <a:tc>
                  <a:txBody>
                    <a:bodyPr wrap="square"/>
                    <a:lstStyle/>
                    <a:p>
                      <a:pPr algn="l"/>
                      <a:r>
                        <a:rPr sz="1300" b="0">
                          <a:solidFill>
                            <a:srgbClr val="1A1A1A"/>
                          </a:solidFill>
                          <a:latin typeface="Times New Roman"/>
                        </a:rPr>
                        <a:t>Downloads the price data of both indexes</a:t>
                      </a:r>
                    </a:p>
                  </a:txBody>
                  <a:tcPr anchor="ctr" marL="45720" marR="45720" marT="18288" marB="18288">
                    <a:solidFill>
                      <a:srgbClr val="FFFFFF"/>
                    </a:solidFill>
                  </a:tcPr>
                </a:tc>
              </a:tr>
              <a:tr h="326571">
                <a:tc>
                  <a:txBody>
                    <a:bodyPr wrap="square"/>
                    <a:lstStyle/>
                    <a:p>
                      <a:pPr algn="l"/>
                      <a:r>
                        <a:rPr sz="1300" b="0">
                          <a:solidFill>
                            <a:srgbClr val="1A1A1A"/>
                          </a:solidFill>
                          <a:latin typeface="Times New Roman"/>
                        </a:rPr>
                        <a:t>tseries</a:t>
                      </a:r>
                    </a:p>
                  </a:txBody>
                  <a:tcPr anchor="ctr" marL="45720" marR="45720" marT="18288" marB="18288">
                    <a:solidFill>
                      <a:srgbClr val="EEF1F7"/>
                    </a:solidFill>
                  </a:tcPr>
                </a:tc>
                <a:tc>
                  <a:txBody>
                    <a:bodyPr wrap="square"/>
                    <a:lstStyle/>
                    <a:p>
                      <a:pPr algn="l"/>
                      <a:r>
                        <a:rPr sz="1300" b="0">
                          <a:solidFill>
                            <a:srgbClr val="1A1A1A"/>
                          </a:solidFill>
                          <a:latin typeface="Times New Roman"/>
                        </a:rPr>
                        <a:t>ADF test and Jarque-Bera test</a:t>
                      </a:r>
                    </a:p>
                  </a:txBody>
                  <a:tcPr anchor="ctr" marL="45720" marR="45720" marT="18288" marB="18288">
                    <a:solidFill>
                      <a:srgbClr val="EEF1F7"/>
                    </a:solidFill>
                  </a:tcPr>
                </a:tc>
              </a:tr>
              <a:tr h="326571">
                <a:tc>
                  <a:txBody>
                    <a:bodyPr wrap="square"/>
                    <a:lstStyle/>
                    <a:p>
                      <a:pPr algn="l"/>
                      <a:r>
                        <a:rPr sz="1300" b="0">
                          <a:solidFill>
                            <a:srgbClr val="1A1A1A"/>
                          </a:solidFill>
                          <a:latin typeface="Times New Roman"/>
                        </a:rPr>
                        <a:t>FinTS</a:t>
                      </a:r>
                    </a:p>
                  </a:txBody>
                  <a:tcPr anchor="ctr" marL="45720" marR="45720" marT="18288" marB="18288">
                    <a:solidFill>
                      <a:srgbClr val="FFFFFF"/>
                    </a:solidFill>
                  </a:tcPr>
                </a:tc>
                <a:tc>
                  <a:txBody>
                    <a:bodyPr wrap="square"/>
                    <a:lstStyle/>
                    <a:p>
                      <a:pPr algn="l"/>
                      <a:r>
                        <a:rPr sz="1300" b="0">
                          <a:solidFill>
                            <a:srgbClr val="1A1A1A"/>
                          </a:solidFill>
                          <a:latin typeface="Times New Roman"/>
                        </a:rPr>
                        <a:t>ARCH test, to check if the risk level changes</a:t>
                      </a:r>
                    </a:p>
                  </a:txBody>
                  <a:tcPr anchor="ctr" marL="45720" marR="45720" marT="18288" marB="18288">
                    <a:solidFill>
                      <a:srgbClr val="FFFFFF"/>
                    </a:solidFill>
                  </a:tcPr>
                </a:tc>
              </a:tr>
              <a:tr h="326571">
                <a:tc>
                  <a:txBody>
                    <a:bodyPr wrap="square"/>
                    <a:lstStyle/>
                    <a:p>
                      <a:pPr algn="l"/>
                      <a:r>
                        <a:rPr sz="1300" b="0">
                          <a:solidFill>
                            <a:srgbClr val="1A1A1A"/>
                          </a:solidFill>
                          <a:latin typeface="Times New Roman"/>
                        </a:rPr>
                        <a:t>rugarch</a:t>
                      </a:r>
                    </a:p>
                  </a:txBody>
                  <a:tcPr anchor="ctr" marL="45720" marR="45720" marT="18288" marB="18288">
                    <a:solidFill>
                      <a:srgbClr val="EEF1F7"/>
                    </a:solidFill>
                  </a:tcPr>
                </a:tc>
                <a:tc>
                  <a:txBody>
                    <a:bodyPr wrap="square"/>
                    <a:lstStyle/>
                    <a:p>
                      <a:pPr algn="l"/>
                      <a:r>
                        <a:rPr sz="1300" b="0">
                          <a:solidFill>
                            <a:srgbClr val="1A1A1A"/>
                          </a:solidFill>
                          <a:latin typeface="Times New Roman"/>
                        </a:rPr>
                        <a:t>Fits the GARCH(1,1) model</a:t>
                      </a:r>
                    </a:p>
                  </a:txBody>
                  <a:tcPr anchor="ctr" marL="45720" marR="45720" marT="18288" marB="18288">
                    <a:solidFill>
                      <a:srgbClr val="EEF1F7"/>
                    </a:solidFill>
                  </a:tcPr>
                </a:tc>
              </a:tr>
              <a:tr h="326571">
                <a:tc>
                  <a:txBody>
                    <a:bodyPr wrap="square"/>
                    <a:lstStyle/>
                    <a:p>
                      <a:pPr algn="l"/>
                      <a:r>
                        <a:rPr sz="1300" b="0">
                          <a:solidFill>
                            <a:srgbClr val="1A1A1A"/>
                          </a:solidFill>
                          <a:latin typeface="Times New Roman"/>
                        </a:rPr>
                        <a:t>PerformanceAnalytics</a:t>
                      </a:r>
                    </a:p>
                  </a:txBody>
                  <a:tcPr anchor="ctr" marL="45720" marR="45720" marT="18288" marB="18288">
                    <a:solidFill>
                      <a:srgbClr val="FFFFFF"/>
                    </a:solidFill>
                  </a:tcPr>
                </a:tc>
                <a:tc>
                  <a:txBody>
                    <a:bodyPr wrap="square"/>
                    <a:lstStyle/>
                    <a:p>
                      <a:pPr algn="l"/>
                      <a:r>
                        <a:rPr sz="1300" b="0">
                          <a:solidFill>
                            <a:srgbClr val="1A1A1A"/>
                          </a:solidFill>
                          <a:latin typeface="Times New Roman"/>
                        </a:rPr>
                        <a:t>Risk numbers such as loss limits and falls</a:t>
                      </a:r>
                    </a:p>
                  </a:txBody>
                  <a:tcPr anchor="ctr" marL="45720" marR="45720" marT="18288" marB="18288">
                    <a:solidFill>
                      <a:srgbClr val="FFFFFF"/>
                    </a:solidFill>
                  </a:tcPr>
                </a:tc>
              </a:tr>
              <a:tr h="326574">
                <a:tc>
                  <a:txBody>
                    <a:bodyPr wrap="square"/>
                    <a:lstStyle/>
                    <a:p>
                      <a:pPr algn="l"/>
                      <a:r>
                        <a:rPr sz="1300" b="0">
                          <a:solidFill>
                            <a:srgbClr val="1A1A1A"/>
                          </a:solidFill>
                          <a:latin typeface="Times New Roman"/>
                        </a:rPr>
                        <a:t>Base R</a:t>
                      </a:r>
                    </a:p>
                  </a:txBody>
                  <a:tcPr anchor="ctr" marL="45720" marR="45720" marT="18288" marB="18288">
                    <a:solidFill>
                      <a:srgbClr val="EEF1F7"/>
                    </a:solidFill>
                  </a:tcPr>
                </a:tc>
                <a:tc>
                  <a:txBody>
                    <a:bodyPr wrap="square"/>
                    <a:lstStyle/>
                    <a:p>
                      <a:pPr algn="l"/>
                      <a:r>
                        <a:rPr sz="1300" b="0">
                          <a:solidFill>
                            <a:srgbClr val="1A1A1A"/>
                          </a:solidFill>
                          <a:latin typeface="Times New Roman"/>
                        </a:rPr>
                        <a:t>Ljung-Box test and all the graphs. No package needed</a:t>
                      </a:r>
                    </a:p>
                  </a:txBody>
                  <a:tcPr anchor="ctr" marL="45720" marR="45720" marT="18288" marB="18288">
                    <a:solidFill>
                      <a:srgbClr val="EEF1F7"/>
                    </a:solidFill>
                  </a:tcPr>
                </a:tc>
              </a:tr>
            </a:tbl>
          </a:graphicData>
        </a:graphic>
      </p:graphicFrame>
      <p:sp>
        <p:nvSpPr>
          <p:cNvPr id="6" name="TextBox 5"/>
          <p:cNvSpPr txBox="1"/>
          <p:nvPr/>
        </p:nvSpPr>
        <p:spPr>
          <a:xfrm>
            <a:off x="548640" y="4937760"/>
            <a:ext cx="11094720" cy="274320"/>
          </a:xfrm>
          <a:prstGeom prst="rect">
            <a:avLst/>
          </a:prstGeom>
          <a:noFill/>
        </p:spPr>
        <p:txBody>
          <a:bodyPr wrap="square">
            <a:spAutoFit/>
          </a:bodyPr>
          <a:lstStyle/>
          <a:p>
            <a:r>
              <a:rPr sz="1100" i="1">
                <a:solidFill>
                  <a:srgbClr val="5A5A5A"/>
                </a:solidFill>
                <a:latin typeface="Times New Roman"/>
              </a:rPr>
              <a:t>A second version of the code is also given that needs no packages at all, so it can run on any online R compiler.</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512064"/>
            <a:ext cx="11094720" cy="594360"/>
          </a:xfrm>
          <a:prstGeom prst="rect">
            <a:avLst/>
          </a:prstGeom>
          <a:noFill/>
        </p:spPr>
        <p:txBody>
          <a:bodyPr wrap="square" anchor="ctr">
            <a:spAutoFit/>
          </a:bodyPr>
          <a:lstStyle/>
          <a:p>
            <a:r>
              <a:rPr sz="3000" b="1">
                <a:solidFill>
                  <a:srgbClr val="001F5F"/>
                </a:solidFill>
                <a:latin typeface="Times New Roman"/>
              </a:rPr>
              <a:t>Result 1 — Do Returns Follow a Normal Curve?</a:t>
            </a:r>
          </a:p>
        </p:txBody>
      </p:sp>
      <p:sp>
        <p:nvSpPr>
          <p:cNvPr id="3" name="Rectangle 2"/>
          <p:cNvSpPr/>
          <p:nvPr/>
        </p:nvSpPr>
        <p:spPr>
          <a:xfrm>
            <a:off x="548640" y="1143000"/>
            <a:ext cx="2200000" cy="38100"/>
          </a:xfrm>
          <a:prstGeom prst="rect">
            <a:avLst/>
          </a:prstGeom>
          <a:solidFill>
            <a:srgbClr val="8C1D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1143000" y="1310640"/>
          <a:ext cx="9906000" cy="1524000"/>
        </p:xfrm>
        <a:graphic>
          <a:graphicData uri="http://schemas.openxmlformats.org/drawingml/2006/table">
            <a:tbl>
              <a:tblPr firstRow="0" bandRow="0">
                <a:tableStyleId>{5C22544A-7EE6-4342-B048-85BDC9FD1C3A}</a:tableStyleId>
              </a:tblPr>
              <a:tblGrid>
                <a:gridCol w="3657600"/>
                <a:gridCol w="1828800"/>
                <a:gridCol w="1828800"/>
                <a:gridCol w="2590800"/>
              </a:tblGrid>
              <a:tr h="304800">
                <a:tc>
                  <a:txBody>
                    <a:bodyPr wrap="square"/>
                    <a:lstStyle/>
                    <a:p>
                      <a:pPr algn="ctr"/>
                      <a:r>
                        <a:rPr sz="1300" b="1">
                          <a:solidFill>
                            <a:srgbClr val="FFFFFF"/>
                          </a:solidFill>
                          <a:latin typeface="Times New Roman"/>
                        </a:rPr>
                        <a:t>Item</a:t>
                      </a:r>
                    </a:p>
                  </a:txBody>
                  <a:tcPr anchor="ctr" marL="45720" marR="45720" marT="18288" marB="18288">
                    <a:solidFill>
                      <a:srgbClr val="001F5F"/>
                    </a:solidFill>
                  </a:tcPr>
                </a:tc>
                <a:tc>
                  <a:txBody>
                    <a:bodyPr wrap="square"/>
                    <a:lstStyle/>
                    <a:p>
                      <a:pPr algn="ctr"/>
                      <a:r>
                        <a:rPr sz="1300" b="1">
                          <a:solidFill>
                            <a:srgbClr val="FFFFFF"/>
                          </a:solidFill>
                          <a:latin typeface="Times New Roman"/>
                        </a:rPr>
                        <a:t>Nifty 50</a:t>
                      </a:r>
                    </a:p>
                  </a:txBody>
                  <a:tcPr anchor="ctr" marL="45720" marR="45720" marT="18288" marB="18288">
                    <a:solidFill>
                      <a:srgbClr val="001F5F"/>
                    </a:solidFill>
                  </a:tcPr>
                </a:tc>
                <a:tc>
                  <a:txBody>
                    <a:bodyPr wrap="square"/>
                    <a:lstStyle/>
                    <a:p>
                      <a:pPr algn="ctr"/>
                      <a:r>
                        <a:rPr sz="1300" b="1">
                          <a:solidFill>
                            <a:srgbClr val="FFFFFF"/>
                          </a:solidFill>
                          <a:latin typeface="Times New Roman"/>
                        </a:rPr>
                        <a:t>Sensex</a:t>
                      </a:r>
                    </a:p>
                  </a:txBody>
                  <a:tcPr anchor="ctr" marL="45720" marR="45720" marT="18288" marB="18288">
                    <a:solidFill>
                      <a:srgbClr val="001F5F"/>
                    </a:solidFill>
                  </a:tcPr>
                </a:tc>
                <a:tc>
                  <a:txBody>
                    <a:bodyPr wrap="square"/>
                    <a:lstStyle/>
                    <a:p>
                      <a:pPr algn="ctr"/>
                      <a:r>
                        <a:rPr sz="1300" b="1">
                          <a:solidFill>
                            <a:srgbClr val="FFFFFF"/>
                          </a:solidFill>
                          <a:latin typeface="Times New Roman"/>
                        </a:rPr>
                        <a:t>If it were a normal curve</a:t>
                      </a:r>
                    </a:p>
                  </a:txBody>
                  <a:tcPr anchor="ctr" marL="45720" marR="45720" marT="18288" marB="18288">
                    <a:solidFill>
                      <a:srgbClr val="001F5F"/>
                    </a:solidFill>
                  </a:tcPr>
                </a:tc>
              </a:tr>
              <a:tr h="304800">
                <a:tc>
                  <a:txBody>
                    <a:bodyPr wrap="square"/>
                    <a:lstStyle/>
                    <a:p>
                      <a:pPr algn="l"/>
                      <a:r>
                        <a:rPr sz="1300" b="0">
                          <a:solidFill>
                            <a:srgbClr val="1A1A1A"/>
                          </a:solidFill>
                          <a:latin typeface="Times New Roman"/>
                        </a:rPr>
                        <a:t>Skewness</a:t>
                      </a:r>
                    </a:p>
                  </a:txBody>
                  <a:tcPr anchor="ctr" marL="45720" marR="45720" marT="18288" marB="18288">
                    <a:solidFill>
                      <a:srgbClr val="FFFFFF"/>
                    </a:solidFill>
                  </a:tcPr>
                </a:tc>
                <a:tc>
                  <a:txBody>
                    <a:bodyPr wrap="square"/>
                    <a:lstStyle/>
                    <a:p>
                      <a:pPr algn="ctr"/>
                      <a:r>
                        <a:rPr sz="1300" b="0">
                          <a:solidFill>
                            <a:srgbClr val="1A1A1A"/>
                          </a:solidFill>
                          <a:latin typeface="Times New Roman"/>
                        </a:rPr>
                        <a:t>-0.280</a:t>
                      </a:r>
                    </a:p>
                  </a:txBody>
                  <a:tcPr anchor="ctr" marL="45720" marR="45720" marT="18288" marB="18288">
                    <a:solidFill>
                      <a:srgbClr val="FFFFFF"/>
                    </a:solidFill>
                  </a:tcPr>
                </a:tc>
                <a:tc>
                  <a:txBody>
                    <a:bodyPr wrap="square"/>
                    <a:lstStyle/>
                    <a:p>
                      <a:pPr algn="ctr"/>
                      <a:r>
                        <a:rPr sz="1300" b="0">
                          <a:solidFill>
                            <a:srgbClr val="1A1A1A"/>
                          </a:solidFill>
                          <a:latin typeface="Times New Roman"/>
                        </a:rPr>
                        <a:t>-0.392</a:t>
                      </a:r>
                    </a:p>
                  </a:txBody>
                  <a:tcPr anchor="ctr" marL="45720" marR="45720" marT="18288" marB="18288">
                    <a:solidFill>
                      <a:srgbClr val="FFFFFF"/>
                    </a:solidFill>
                  </a:tcPr>
                </a:tc>
                <a:tc>
                  <a:txBody>
                    <a:bodyPr wrap="square"/>
                    <a:lstStyle/>
                    <a:p>
                      <a:pPr algn="ctr"/>
                      <a:r>
                        <a:rPr sz="1300" b="0">
                          <a:solidFill>
                            <a:srgbClr val="1A1A1A"/>
                          </a:solidFill>
                          <a:latin typeface="Times New Roman"/>
                        </a:rPr>
                        <a:t>0</a:t>
                      </a:r>
                    </a:p>
                  </a:txBody>
                  <a:tcPr anchor="ctr" marL="45720" marR="45720" marT="18288" marB="18288">
                    <a:solidFill>
                      <a:srgbClr val="FFFFFF"/>
                    </a:solidFill>
                  </a:tcPr>
                </a:tc>
              </a:tr>
              <a:tr h="304800">
                <a:tc>
                  <a:txBody>
                    <a:bodyPr wrap="square"/>
                    <a:lstStyle/>
                    <a:p>
                      <a:pPr algn="l"/>
                      <a:r>
                        <a:rPr sz="1300" b="0">
                          <a:solidFill>
                            <a:srgbClr val="1A1A1A"/>
                          </a:solidFill>
                          <a:latin typeface="Times New Roman"/>
                        </a:rPr>
                        <a:t>Extra peakedness</a:t>
                      </a:r>
                    </a:p>
                  </a:txBody>
                  <a:tcPr anchor="ctr" marL="45720" marR="45720" marT="18288" marB="18288">
                    <a:solidFill>
                      <a:srgbClr val="EEF1F7"/>
                    </a:solidFill>
                  </a:tcPr>
                </a:tc>
                <a:tc>
                  <a:txBody>
                    <a:bodyPr wrap="square"/>
                    <a:lstStyle/>
                    <a:p>
                      <a:pPr algn="ctr"/>
                      <a:r>
                        <a:rPr sz="1300" b="0">
                          <a:solidFill>
                            <a:srgbClr val="1A1A1A"/>
                          </a:solidFill>
                          <a:latin typeface="Times New Roman"/>
                        </a:rPr>
                        <a:t>15.14</a:t>
                      </a:r>
                    </a:p>
                  </a:txBody>
                  <a:tcPr anchor="ctr" marL="45720" marR="45720" marT="18288" marB="18288">
                    <a:solidFill>
                      <a:srgbClr val="EEF1F7"/>
                    </a:solidFill>
                  </a:tcPr>
                </a:tc>
                <a:tc>
                  <a:txBody>
                    <a:bodyPr wrap="square"/>
                    <a:lstStyle/>
                    <a:p>
                      <a:pPr algn="ctr"/>
                      <a:r>
                        <a:rPr sz="1300" b="0">
                          <a:solidFill>
                            <a:srgbClr val="1A1A1A"/>
                          </a:solidFill>
                          <a:latin typeface="Times New Roman"/>
                        </a:rPr>
                        <a:t>10.07</a:t>
                      </a:r>
                    </a:p>
                  </a:txBody>
                  <a:tcPr anchor="ctr" marL="45720" marR="45720" marT="18288" marB="18288">
                    <a:solidFill>
                      <a:srgbClr val="EEF1F7"/>
                    </a:solidFill>
                  </a:tcPr>
                </a:tc>
                <a:tc>
                  <a:txBody>
                    <a:bodyPr wrap="square"/>
                    <a:lstStyle/>
                    <a:p>
                      <a:pPr algn="ctr"/>
                      <a:r>
                        <a:rPr sz="1300" b="0">
                          <a:solidFill>
                            <a:srgbClr val="1A1A1A"/>
                          </a:solidFill>
                          <a:latin typeface="Times New Roman"/>
                        </a:rPr>
                        <a:t>0</a:t>
                      </a:r>
                    </a:p>
                  </a:txBody>
                  <a:tcPr anchor="ctr" marL="45720" marR="45720" marT="18288" marB="18288">
                    <a:solidFill>
                      <a:srgbClr val="EEF1F7"/>
                    </a:solidFill>
                  </a:tcPr>
                </a:tc>
              </a:tr>
              <a:tr h="304800">
                <a:tc>
                  <a:txBody>
                    <a:bodyPr wrap="square"/>
                    <a:lstStyle/>
                    <a:p>
                      <a:pPr algn="l"/>
                      <a:r>
                        <a:rPr sz="1300" b="0">
                          <a:solidFill>
                            <a:srgbClr val="1A1A1A"/>
                          </a:solidFill>
                          <a:latin typeface="Times New Roman"/>
                        </a:rPr>
                        <a:t>Jarque-Bera value</a:t>
                      </a:r>
                    </a:p>
                  </a:txBody>
                  <a:tcPr anchor="ctr" marL="45720" marR="45720" marT="18288" marB="18288">
                    <a:solidFill>
                      <a:srgbClr val="FFFFFF"/>
                    </a:solidFill>
                  </a:tcPr>
                </a:tc>
                <a:tc>
                  <a:txBody>
                    <a:bodyPr wrap="square"/>
                    <a:lstStyle/>
                    <a:p>
                      <a:pPr algn="ctr"/>
                      <a:r>
                        <a:rPr sz="1300" b="0">
                          <a:solidFill>
                            <a:srgbClr val="1A1A1A"/>
                          </a:solidFill>
                          <a:latin typeface="Times New Roman"/>
                        </a:rPr>
                        <a:t>44,429</a:t>
                      </a:r>
                    </a:p>
                  </a:txBody>
                  <a:tcPr anchor="ctr" marL="45720" marR="45720" marT="18288" marB="18288">
                    <a:solidFill>
                      <a:srgbClr val="FFFFFF"/>
                    </a:solidFill>
                  </a:tcPr>
                </a:tc>
                <a:tc>
                  <a:txBody>
                    <a:bodyPr wrap="square"/>
                    <a:lstStyle/>
                    <a:p>
                      <a:pPr algn="ctr"/>
                      <a:r>
                        <a:rPr sz="1300" b="0">
                          <a:solidFill>
                            <a:srgbClr val="1A1A1A"/>
                          </a:solidFill>
                          <a:latin typeface="Times New Roman"/>
                        </a:rPr>
                        <a:t>27,911</a:t>
                      </a:r>
                    </a:p>
                  </a:txBody>
                  <a:tcPr anchor="ctr" marL="45720" marR="45720" marT="18288" marB="18288">
                    <a:solidFill>
                      <a:srgbClr val="FFFFFF"/>
                    </a:solidFill>
                  </a:tcPr>
                </a:tc>
                <a:tc>
                  <a:txBody>
                    <a:bodyPr wrap="square"/>
                    <a:lstStyle/>
                    <a:p>
                      <a:pPr algn="ctr"/>
                      <a:r>
                        <a:rPr sz="1300" b="0">
                          <a:solidFill>
                            <a:srgbClr val="1A1A1A"/>
                          </a:solidFill>
                          <a:latin typeface="Times New Roman"/>
                        </a:rPr>
                        <a:t>near 0</a:t>
                      </a:r>
                    </a:p>
                  </a:txBody>
                  <a:tcPr anchor="ctr" marL="45720" marR="45720" marT="18288" marB="18288">
                    <a:solidFill>
                      <a:srgbClr val="FFFFFF"/>
                    </a:solidFill>
                  </a:tcPr>
                </a:tc>
              </a:tr>
              <a:tr h="304800">
                <a:tc>
                  <a:txBody>
                    <a:bodyPr wrap="square"/>
                    <a:lstStyle/>
                    <a:p>
                      <a:pPr algn="l"/>
                      <a:r>
                        <a:rPr sz="1300" b="0">
                          <a:solidFill>
                            <a:srgbClr val="1A1A1A"/>
                          </a:solidFill>
                          <a:latin typeface="Times New Roman"/>
                        </a:rPr>
                        <a:t>Days with a very large move</a:t>
                      </a:r>
                    </a:p>
                  </a:txBody>
                  <a:tcPr anchor="ctr" marL="45720" marR="45720" marT="18288" marB="18288">
                    <a:solidFill>
                      <a:srgbClr val="EEF1F7"/>
                    </a:solidFill>
                  </a:tcPr>
                </a:tc>
                <a:tc>
                  <a:txBody>
                    <a:bodyPr wrap="square"/>
                    <a:lstStyle/>
                    <a:p>
                      <a:pPr algn="ctr"/>
                      <a:r>
                        <a:rPr sz="1300" b="0">
                          <a:solidFill>
                            <a:srgbClr val="1A1A1A"/>
                          </a:solidFill>
                          <a:latin typeface="Times New Roman"/>
                        </a:rPr>
                        <a:t>70</a:t>
                      </a:r>
                    </a:p>
                  </a:txBody>
                  <a:tcPr anchor="ctr" marL="45720" marR="45720" marT="18288" marB="18288">
                    <a:solidFill>
                      <a:srgbClr val="EEF1F7"/>
                    </a:solidFill>
                  </a:tcPr>
                </a:tc>
                <a:tc>
                  <a:txBody>
                    <a:bodyPr wrap="square"/>
                    <a:lstStyle/>
                    <a:p>
                      <a:pPr algn="ctr"/>
                      <a:r>
                        <a:rPr sz="1300" b="0">
                          <a:solidFill>
                            <a:srgbClr val="1A1A1A"/>
                          </a:solidFill>
                          <a:latin typeface="Times New Roman"/>
                        </a:rPr>
                        <a:t>107</a:t>
                      </a:r>
                    </a:p>
                  </a:txBody>
                  <a:tcPr anchor="ctr" marL="45720" marR="45720" marT="18288" marB="18288">
                    <a:solidFill>
                      <a:srgbClr val="EEF1F7"/>
                    </a:solidFill>
                  </a:tcPr>
                </a:tc>
                <a:tc>
                  <a:txBody>
                    <a:bodyPr wrap="square"/>
                    <a:lstStyle/>
                    <a:p>
                      <a:pPr algn="ctr"/>
                      <a:r>
                        <a:rPr sz="1300" b="0">
                          <a:solidFill>
                            <a:srgbClr val="1A1A1A"/>
                          </a:solidFill>
                          <a:latin typeface="Times New Roman"/>
                        </a:rPr>
                        <a:t>13 and 18</a:t>
                      </a:r>
                    </a:p>
                  </a:txBody>
                  <a:tcPr anchor="ctr" marL="45720" marR="45720" marT="18288" marB="18288">
                    <a:solidFill>
                      <a:srgbClr val="EEF1F7"/>
                    </a:solidFill>
                  </a:tcPr>
                </a:tc>
              </a:tr>
            </a:tbl>
          </a:graphicData>
        </a:graphic>
      </p:graphicFrame>
      <p:pic>
        <p:nvPicPr>
          <p:cNvPr id="5" name="Picture 4" descr="fig3_dist.png"/>
          <p:cNvPicPr>
            <a:picLocks noChangeAspect="1"/>
          </p:cNvPicPr>
          <p:nvPr/>
        </p:nvPicPr>
        <p:blipFill>
          <a:blip r:embed="rId2"/>
          <a:stretch>
            <a:fillRect/>
          </a:stretch>
        </p:blipFill>
        <p:spPr>
          <a:xfrm>
            <a:off x="2946000" y="3017520"/>
            <a:ext cx="6300000" cy="2870000"/>
          </a:xfrm>
          <a:prstGeom prst="rect">
            <a:avLst/>
          </a:prstGeom>
        </p:spPr>
      </p:pic>
      <p:sp>
        <p:nvSpPr>
          <p:cNvPr id="6" name="TextBox 5"/>
          <p:cNvSpPr txBox="1"/>
          <p:nvPr/>
        </p:nvSpPr>
        <p:spPr>
          <a:xfrm>
            <a:off x="548640" y="6019800"/>
            <a:ext cx="11094720" cy="274320"/>
          </a:xfrm>
          <a:prstGeom prst="rect">
            <a:avLst/>
          </a:prstGeom>
          <a:noFill/>
        </p:spPr>
        <p:txBody>
          <a:bodyPr wrap="square">
            <a:spAutoFit/>
          </a:bodyPr>
          <a:lstStyle/>
          <a:p>
            <a:r>
              <a:rPr sz="1100" i="1">
                <a:solidFill>
                  <a:srgbClr val="5A5A5A"/>
                </a:solidFill>
                <a:latin typeface="Times New Roman"/>
              </a:rPr>
              <a:t>Answer: No. If returns followed a normal curve, about 13 days with a very large move were expected, but 70 days actually happened.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512064"/>
            <a:ext cx="11094720" cy="594360"/>
          </a:xfrm>
          <a:prstGeom prst="rect">
            <a:avLst/>
          </a:prstGeom>
          <a:noFill/>
        </p:spPr>
        <p:txBody>
          <a:bodyPr wrap="square" anchor="ctr">
            <a:spAutoFit/>
          </a:bodyPr>
          <a:lstStyle/>
          <a:p>
            <a:r>
              <a:rPr sz="3000" b="1">
                <a:solidFill>
                  <a:srgbClr val="001F5F"/>
                </a:solidFill>
                <a:latin typeface="Times New Roman"/>
              </a:rPr>
              <a:t>Result 2 — Can the Direction Be Predicted?</a:t>
            </a:r>
          </a:p>
        </p:txBody>
      </p:sp>
      <p:sp>
        <p:nvSpPr>
          <p:cNvPr id="3" name="Rectangle 2"/>
          <p:cNvSpPr/>
          <p:nvPr/>
        </p:nvSpPr>
        <p:spPr>
          <a:xfrm>
            <a:off x="548640" y="1143000"/>
            <a:ext cx="2200000" cy="38100"/>
          </a:xfrm>
          <a:prstGeom prst="rect">
            <a:avLst/>
          </a:prstGeom>
          <a:solidFill>
            <a:srgbClr val="8C1D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914400" y="1310640"/>
          <a:ext cx="10363200" cy="2286000"/>
        </p:xfrm>
        <a:graphic>
          <a:graphicData uri="http://schemas.openxmlformats.org/drawingml/2006/table">
            <a:tbl>
              <a:tblPr firstRow="0" bandRow="0">
                <a:tableStyleId>{5C22544A-7EE6-4342-B048-85BDC9FD1C3A}</a:tableStyleId>
              </a:tblPr>
              <a:tblGrid>
                <a:gridCol w="2971800"/>
                <a:gridCol w="1600200"/>
                <a:gridCol w="1828800"/>
                <a:gridCol w="1828800"/>
                <a:gridCol w="2133600"/>
              </a:tblGrid>
              <a:tr h="326571">
                <a:tc>
                  <a:txBody>
                    <a:bodyPr wrap="square"/>
                    <a:lstStyle/>
                    <a:p>
                      <a:pPr algn="ctr"/>
                      <a:r>
                        <a:rPr sz="1300" b="1">
                          <a:solidFill>
                            <a:srgbClr val="FFFFFF"/>
                          </a:solidFill>
                          <a:latin typeface="Times New Roman"/>
                        </a:rPr>
                        <a:t>Test</a:t>
                      </a:r>
                    </a:p>
                  </a:txBody>
                  <a:tcPr anchor="ctr" marL="45720" marR="45720" marT="18288" marB="18288">
                    <a:solidFill>
                      <a:srgbClr val="001F5F"/>
                    </a:solidFill>
                  </a:tcPr>
                </a:tc>
                <a:tc>
                  <a:txBody>
                    <a:bodyPr wrap="square"/>
                    <a:lstStyle/>
                    <a:p>
                      <a:pPr algn="ctr"/>
                      <a:r>
                        <a:rPr sz="1300" b="1">
                          <a:solidFill>
                            <a:srgbClr val="FFFFFF"/>
                          </a:solidFill>
                          <a:latin typeface="Times New Roman"/>
                        </a:rPr>
                        <a:t>Series</a:t>
                      </a:r>
                    </a:p>
                  </a:txBody>
                  <a:tcPr anchor="ctr" marL="45720" marR="45720" marT="18288" marB="18288">
                    <a:solidFill>
                      <a:srgbClr val="001F5F"/>
                    </a:solidFill>
                  </a:tcPr>
                </a:tc>
                <a:tc>
                  <a:txBody>
                    <a:bodyPr wrap="square"/>
                    <a:lstStyle/>
                    <a:p>
                      <a:pPr algn="ctr"/>
                      <a:r>
                        <a:rPr sz="1300" b="1">
                          <a:solidFill>
                            <a:srgbClr val="FFFFFF"/>
                          </a:solidFill>
                          <a:latin typeface="Times New Roman"/>
                        </a:rPr>
                        <a:t>Nifty 50</a:t>
                      </a:r>
                    </a:p>
                  </a:txBody>
                  <a:tcPr anchor="ctr" marL="45720" marR="45720" marT="18288" marB="18288">
                    <a:solidFill>
                      <a:srgbClr val="001F5F"/>
                    </a:solidFill>
                  </a:tcPr>
                </a:tc>
                <a:tc>
                  <a:txBody>
                    <a:bodyPr wrap="square"/>
                    <a:lstStyle/>
                    <a:p>
                      <a:pPr algn="ctr"/>
                      <a:r>
                        <a:rPr sz="1300" b="1">
                          <a:solidFill>
                            <a:srgbClr val="FFFFFF"/>
                          </a:solidFill>
                          <a:latin typeface="Times New Roman"/>
                        </a:rPr>
                        <a:t>Sensex</a:t>
                      </a:r>
                    </a:p>
                  </a:txBody>
                  <a:tcPr anchor="ctr" marL="45720" marR="45720" marT="18288" marB="18288">
                    <a:solidFill>
                      <a:srgbClr val="001F5F"/>
                    </a:solidFill>
                  </a:tcPr>
                </a:tc>
                <a:tc>
                  <a:txBody>
                    <a:bodyPr wrap="square"/>
                    <a:lstStyle/>
                    <a:p>
                      <a:pPr algn="ctr"/>
                      <a:r>
                        <a:rPr sz="1300" b="1">
                          <a:solidFill>
                            <a:srgbClr val="FFFFFF"/>
                          </a:solidFill>
                          <a:latin typeface="Times New Roman"/>
                        </a:rPr>
                        <a:t>Result</a:t>
                      </a:r>
                    </a:p>
                  </a:txBody>
                  <a:tcPr anchor="ctr" marL="45720" marR="45720" marT="18288" marB="18288">
                    <a:solidFill>
                      <a:srgbClr val="001F5F"/>
                    </a:solidFill>
                  </a:tcPr>
                </a:tc>
              </a:tr>
              <a:tr h="326571">
                <a:tc>
                  <a:txBody>
                    <a:bodyPr wrap="square"/>
                    <a:lstStyle/>
                    <a:p>
                      <a:pPr algn="l"/>
                      <a:r>
                        <a:rPr sz="1300" b="0">
                          <a:solidFill>
                            <a:srgbClr val="1A1A1A"/>
                          </a:solidFill>
                          <a:latin typeface="Times New Roman"/>
                        </a:rPr>
                        <a:t>ADF</a:t>
                      </a:r>
                    </a:p>
                  </a:txBody>
                  <a:tcPr anchor="ctr" marL="45720" marR="45720" marT="18288" marB="18288">
                    <a:solidFill>
                      <a:srgbClr val="FFFFFF"/>
                    </a:solidFill>
                  </a:tcPr>
                </a:tc>
                <a:tc>
                  <a:txBody>
                    <a:bodyPr wrap="square"/>
                    <a:lstStyle/>
                    <a:p>
                      <a:pPr algn="l"/>
                      <a:r>
                        <a:rPr sz="1300" b="0">
                          <a:solidFill>
                            <a:srgbClr val="1A1A1A"/>
                          </a:solidFill>
                          <a:latin typeface="Times New Roman"/>
                        </a:rPr>
                        <a:t>Price</a:t>
                      </a:r>
                    </a:p>
                  </a:txBody>
                  <a:tcPr anchor="ctr" marL="45720" marR="45720" marT="18288" marB="18288">
                    <a:solidFill>
                      <a:srgbClr val="FFFFFF"/>
                    </a:solidFill>
                  </a:tcPr>
                </a:tc>
                <a:tc>
                  <a:txBody>
                    <a:bodyPr wrap="square"/>
                    <a:lstStyle/>
                    <a:p>
                      <a:pPr algn="ctr"/>
                      <a:r>
                        <a:rPr sz="1300" b="0">
                          <a:solidFill>
                            <a:srgbClr val="1A1A1A"/>
                          </a:solidFill>
                          <a:latin typeface="Times New Roman"/>
                        </a:rPr>
                        <a:t>-0.18</a:t>
                      </a:r>
                    </a:p>
                  </a:txBody>
                  <a:tcPr anchor="ctr" marL="45720" marR="45720" marT="18288" marB="18288">
                    <a:solidFill>
                      <a:srgbClr val="FFFFFF"/>
                    </a:solidFill>
                  </a:tcPr>
                </a:tc>
                <a:tc>
                  <a:txBody>
                    <a:bodyPr wrap="square"/>
                    <a:lstStyle/>
                    <a:p>
                      <a:pPr algn="ctr"/>
                      <a:r>
                        <a:rPr sz="1300" b="0">
                          <a:solidFill>
                            <a:srgbClr val="1A1A1A"/>
                          </a:solidFill>
                          <a:latin typeface="Times New Roman"/>
                        </a:rPr>
                        <a:t>-0.39</a:t>
                      </a:r>
                    </a:p>
                  </a:txBody>
                  <a:tcPr anchor="ctr" marL="45720" marR="45720" marT="18288" marB="18288">
                    <a:solidFill>
                      <a:srgbClr val="FFFFFF"/>
                    </a:solidFill>
                  </a:tcPr>
                </a:tc>
                <a:tc>
                  <a:txBody>
                    <a:bodyPr wrap="square"/>
                    <a:lstStyle/>
                    <a:p>
                      <a:pPr algn="l"/>
                      <a:r>
                        <a:rPr sz="1300" b="0">
                          <a:solidFill>
                            <a:srgbClr val="1A1A1A"/>
                          </a:solidFill>
                          <a:latin typeface="Times New Roman"/>
                        </a:rPr>
                        <a:t>Not stationary</a:t>
                      </a:r>
                    </a:p>
                  </a:txBody>
                  <a:tcPr anchor="ctr" marL="45720" marR="45720" marT="18288" marB="18288">
                    <a:solidFill>
                      <a:srgbClr val="FFFFFF"/>
                    </a:solidFill>
                  </a:tcPr>
                </a:tc>
              </a:tr>
              <a:tr h="326571">
                <a:tc>
                  <a:txBody>
                    <a:bodyPr wrap="square"/>
                    <a:lstStyle/>
                    <a:p>
                      <a:pPr algn="l"/>
                      <a:r>
                        <a:rPr sz="1300" b="0">
                          <a:solidFill>
                            <a:srgbClr val="1A1A1A"/>
                          </a:solidFill>
                          <a:latin typeface="Times New Roman"/>
                        </a:rPr>
                        <a:t>ADF</a:t>
                      </a:r>
                    </a:p>
                  </a:txBody>
                  <a:tcPr anchor="ctr" marL="45720" marR="45720" marT="18288" marB="18288">
                    <a:solidFill>
                      <a:srgbClr val="EEF1F7"/>
                    </a:solidFill>
                  </a:tcPr>
                </a:tc>
                <a:tc>
                  <a:txBody>
                    <a:bodyPr wrap="square"/>
                    <a:lstStyle/>
                    <a:p>
                      <a:pPr algn="l"/>
                      <a:r>
                        <a:rPr sz="1300" b="0">
                          <a:solidFill>
                            <a:srgbClr val="1A1A1A"/>
                          </a:solidFill>
                          <a:latin typeface="Times New Roman"/>
                        </a:rPr>
                        <a:t>Returns</a:t>
                      </a:r>
                    </a:p>
                  </a:txBody>
                  <a:tcPr anchor="ctr" marL="45720" marR="45720" marT="18288" marB="18288">
                    <a:solidFill>
                      <a:srgbClr val="EEF1F7"/>
                    </a:solidFill>
                  </a:tcPr>
                </a:tc>
                <a:tc>
                  <a:txBody>
                    <a:bodyPr wrap="square"/>
                    <a:lstStyle/>
                    <a:p>
                      <a:pPr algn="ctr"/>
                      <a:r>
                        <a:rPr sz="1300" b="0">
                          <a:solidFill>
                            <a:srgbClr val="1A1A1A"/>
                          </a:solidFill>
                          <a:latin typeface="Times New Roman"/>
                        </a:rPr>
                        <a:t>-12.19</a:t>
                      </a:r>
                    </a:p>
                  </a:txBody>
                  <a:tcPr anchor="ctr" marL="45720" marR="45720" marT="18288" marB="18288">
                    <a:solidFill>
                      <a:srgbClr val="EEF1F7"/>
                    </a:solidFill>
                  </a:tcPr>
                </a:tc>
                <a:tc>
                  <a:txBody>
                    <a:bodyPr wrap="square"/>
                    <a:lstStyle/>
                    <a:p>
                      <a:pPr algn="ctr"/>
                      <a:r>
                        <a:rPr sz="1300" b="0">
                          <a:solidFill>
                            <a:srgbClr val="1A1A1A"/>
                          </a:solidFill>
                          <a:latin typeface="Times New Roman"/>
                        </a:rPr>
                        <a:t>-13.91</a:t>
                      </a:r>
                    </a:p>
                  </a:txBody>
                  <a:tcPr anchor="ctr" marL="45720" marR="45720" marT="18288" marB="18288">
                    <a:solidFill>
                      <a:srgbClr val="EEF1F7"/>
                    </a:solidFill>
                  </a:tcPr>
                </a:tc>
                <a:tc>
                  <a:txBody>
                    <a:bodyPr wrap="square"/>
                    <a:lstStyle/>
                    <a:p>
                      <a:pPr algn="l"/>
                      <a:r>
                        <a:rPr sz="1300" b="0">
                          <a:solidFill>
                            <a:srgbClr val="1A1A1A"/>
                          </a:solidFill>
                          <a:latin typeface="Times New Roman"/>
                        </a:rPr>
                        <a:t>Stationary</a:t>
                      </a:r>
                    </a:p>
                  </a:txBody>
                  <a:tcPr anchor="ctr" marL="45720" marR="45720" marT="18288" marB="18288">
                    <a:solidFill>
                      <a:srgbClr val="EEF1F7"/>
                    </a:solidFill>
                  </a:tcPr>
                </a:tc>
              </a:tr>
              <a:tr h="326571">
                <a:tc>
                  <a:txBody>
                    <a:bodyPr wrap="square"/>
                    <a:lstStyle/>
                    <a:p>
                      <a:pPr algn="l"/>
                      <a:r>
                        <a:rPr sz="1300" b="0">
                          <a:solidFill>
                            <a:srgbClr val="1A1A1A"/>
                          </a:solidFill>
                          <a:latin typeface="Times New Roman"/>
                        </a:rPr>
                        <a:t>Variance ratio, q = 2</a:t>
                      </a:r>
                    </a:p>
                  </a:txBody>
                  <a:tcPr anchor="ctr" marL="45720" marR="45720" marT="18288" marB="18288">
                    <a:solidFill>
                      <a:srgbClr val="FFFFFF"/>
                    </a:solidFill>
                  </a:tcPr>
                </a:tc>
                <a:tc>
                  <a:txBody>
                    <a:bodyPr wrap="square"/>
                    <a:lstStyle/>
                    <a:p>
                      <a:pPr algn="l"/>
                      <a:r>
                        <a:rPr sz="1300" b="0">
                          <a:solidFill>
                            <a:srgbClr val="1A1A1A"/>
                          </a:solidFill>
                          <a:latin typeface="Times New Roman"/>
                        </a:rPr>
                        <a:t>Returns</a:t>
                      </a:r>
                    </a:p>
                  </a:txBody>
                  <a:tcPr anchor="ctr" marL="45720" marR="45720" marT="18288" marB="18288">
                    <a:solidFill>
                      <a:srgbClr val="FFFFFF"/>
                    </a:solidFill>
                  </a:tcPr>
                </a:tc>
                <a:tc>
                  <a:txBody>
                    <a:bodyPr wrap="square"/>
                    <a:lstStyle/>
                    <a:p>
                      <a:pPr algn="ctr"/>
                      <a:r>
                        <a:rPr sz="1300" b="0">
                          <a:solidFill>
                            <a:srgbClr val="1A1A1A"/>
                          </a:solidFill>
                          <a:latin typeface="Times New Roman"/>
                        </a:rPr>
                        <a:t>1.037</a:t>
                      </a:r>
                    </a:p>
                  </a:txBody>
                  <a:tcPr anchor="ctr" marL="45720" marR="45720" marT="18288" marB="18288">
                    <a:solidFill>
                      <a:srgbClr val="FFFFFF"/>
                    </a:solidFill>
                  </a:tcPr>
                </a:tc>
                <a:tc>
                  <a:txBody>
                    <a:bodyPr wrap="square"/>
                    <a:lstStyle/>
                    <a:p>
                      <a:pPr algn="ctr"/>
                      <a:r>
                        <a:rPr sz="1300" b="0">
                          <a:solidFill>
                            <a:srgbClr val="1A1A1A"/>
                          </a:solidFill>
                          <a:latin typeface="Times New Roman"/>
                        </a:rPr>
                        <a:t>1.051</a:t>
                      </a:r>
                    </a:p>
                  </a:txBody>
                  <a:tcPr anchor="ctr" marL="45720" marR="45720" marT="18288" marB="18288">
                    <a:solidFill>
                      <a:srgbClr val="FFFFFF"/>
                    </a:solidFill>
                  </a:tcPr>
                </a:tc>
                <a:tc>
                  <a:txBody>
                    <a:bodyPr wrap="square"/>
                    <a:lstStyle/>
                    <a:p>
                      <a:pPr algn="l"/>
                      <a:r>
                        <a:rPr sz="1300" b="0">
                          <a:solidFill>
                            <a:srgbClr val="1A1A1A"/>
                          </a:solidFill>
                          <a:latin typeface="Times New Roman"/>
                        </a:rPr>
                        <a:t>Close to 1</a:t>
                      </a:r>
                    </a:p>
                  </a:txBody>
                  <a:tcPr anchor="ctr" marL="45720" marR="45720" marT="18288" marB="18288">
                    <a:solidFill>
                      <a:srgbClr val="FFFFFF"/>
                    </a:solidFill>
                  </a:tcPr>
                </a:tc>
              </a:tr>
              <a:tr h="326571">
                <a:tc>
                  <a:txBody>
                    <a:bodyPr wrap="square"/>
                    <a:lstStyle/>
                    <a:p>
                      <a:pPr algn="l"/>
                      <a:r>
                        <a:rPr sz="1300" b="0">
                          <a:solidFill>
                            <a:srgbClr val="1A1A1A"/>
                          </a:solidFill>
                          <a:latin typeface="Times New Roman"/>
                        </a:rPr>
                        <a:t>Variance ratio, q = 4</a:t>
                      </a:r>
                    </a:p>
                  </a:txBody>
                  <a:tcPr anchor="ctr" marL="45720" marR="45720" marT="18288" marB="18288">
                    <a:solidFill>
                      <a:srgbClr val="EEF1F7"/>
                    </a:solidFill>
                  </a:tcPr>
                </a:tc>
                <a:tc>
                  <a:txBody>
                    <a:bodyPr wrap="square"/>
                    <a:lstStyle/>
                    <a:p>
                      <a:pPr algn="l"/>
                      <a:r>
                        <a:rPr sz="1300" b="0">
                          <a:solidFill>
                            <a:srgbClr val="1A1A1A"/>
                          </a:solidFill>
                          <a:latin typeface="Times New Roman"/>
                        </a:rPr>
                        <a:t>Returns</a:t>
                      </a:r>
                    </a:p>
                  </a:txBody>
                  <a:tcPr anchor="ctr" marL="45720" marR="45720" marT="18288" marB="18288">
                    <a:solidFill>
                      <a:srgbClr val="EEF1F7"/>
                    </a:solidFill>
                  </a:tcPr>
                </a:tc>
                <a:tc>
                  <a:txBody>
                    <a:bodyPr wrap="square"/>
                    <a:lstStyle/>
                    <a:p>
                      <a:pPr algn="ctr"/>
                      <a:r>
                        <a:rPr sz="1300" b="0">
                          <a:solidFill>
                            <a:srgbClr val="1A1A1A"/>
                          </a:solidFill>
                          <a:latin typeface="Times New Roman"/>
                        </a:rPr>
                        <a:t>1.036</a:t>
                      </a:r>
                    </a:p>
                  </a:txBody>
                  <a:tcPr anchor="ctr" marL="45720" marR="45720" marT="18288" marB="18288">
                    <a:solidFill>
                      <a:srgbClr val="EEF1F7"/>
                    </a:solidFill>
                  </a:tcPr>
                </a:tc>
                <a:tc>
                  <a:txBody>
                    <a:bodyPr wrap="square"/>
                    <a:lstStyle/>
                    <a:p>
                      <a:pPr algn="ctr"/>
                      <a:r>
                        <a:rPr sz="1300" b="0">
                          <a:solidFill>
                            <a:srgbClr val="1A1A1A"/>
                          </a:solidFill>
                          <a:latin typeface="Times New Roman"/>
                        </a:rPr>
                        <a:t>1.043</a:t>
                      </a:r>
                    </a:p>
                  </a:txBody>
                  <a:tcPr anchor="ctr" marL="45720" marR="45720" marT="18288" marB="18288">
                    <a:solidFill>
                      <a:srgbClr val="EEF1F7"/>
                    </a:solidFill>
                  </a:tcPr>
                </a:tc>
                <a:tc>
                  <a:txBody>
                    <a:bodyPr wrap="square"/>
                    <a:lstStyle/>
                    <a:p>
                      <a:pPr algn="l"/>
                      <a:r>
                        <a:rPr sz="1300" b="0">
                          <a:solidFill>
                            <a:srgbClr val="1A1A1A"/>
                          </a:solidFill>
                          <a:latin typeface="Times New Roman"/>
                        </a:rPr>
                        <a:t>Close to 1</a:t>
                      </a:r>
                    </a:p>
                  </a:txBody>
                  <a:tcPr anchor="ctr" marL="45720" marR="45720" marT="18288" marB="18288">
                    <a:solidFill>
                      <a:srgbClr val="EEF1F7"/>
                    </a:solidFill>
                  </a:tcPr>
                </a:tc>
              </a:tr>
              <a:tr h="326571">
                <a:tc>
                  <a:txBody>
                    <a:bodyPr wrap="square"/>
                    <a:lstStyle/>
                    <a:p>
                      <a:pPr algn="l"/>
                      <a:r>
                        <a:rPr sz="1300" b="0">
                          <a:solidFill>
                            <a:srgbClr val="1A1A1A"/>
                          </a:solidFill>
                          <a:latin typeface="Times New Roman"/>
                        </a:rPr>
                        <a:t>Variance ratio, q = 8</a:t>
                      </a:r>
                    </a:p>
                  </a:txBody>
                  <a:tcPr anchor="ctr" marL="45720" marR="45720" marT="18288" marB="18288">
                    <a:solidFill>
                      <a:srgbClr val="FFFFFF"/>
                    </a:solidFill>
                  </a:tcPr>
                </a:tc>
                <a:tc>
                  <a:txBody>
                    <a:bodyPr wrap="square"/>
                    <a:lstStyle/>
                    <a:p>
                      <a:pPr algn="l"/>
                      <a:r>
                        <a:rPr sz="1300" b="0">
                          <a:solidFill>
                            <a:srgbClr val="1A1A1A"/>
                          </a:solidFill>
                          <a:latin typeface="Times New Roman"/>
                        </a:rPr>
                        <a:t>Returns</a:t>
                      </a:r>
                    </a:p>
                  </a:txBody>
                  <a:tcPr anchor="ctr" marL="45720" marR="45720" marT="18288" marB="18288">
                    <a:solidFill>
                      <a:srgbClr val="FFFFFF"/>
                    </a:solidFill>
                  </a:tcPr>
                </a:tc>
                <a:tc>
                  <a:txBody>
                    <a:bodyPr wrap="square"/>
                    <a:lstStyle/>
                    <a:p>
                      <a:pPr algn="ctr"/>
                      <a:r>
                        <a:rPr sz="1300" b="0">
                          <a:solidFill>
                            <a:srgbClr val="1A1A1A"/>
                          </a:solidFill>
                          <a:latin typeface="Times New Roman"/>
                        </a:rPr>
                        <a:t>0.994</a:t>
                      </a:r>
                    </a:p>
                  </a:txBody>
                  <a:tcPr anchor="ctr" marL="45720" marR="45720" marT="18288" marB="18288">
                    <a:solidFill>
                      <a:srgbClr val="FFFFFF"/>
                    </a:solidFill>
                  </a:tcPr>
                </a:tc>
                <a:tc>
                  <a:txBody>
                    <a:bodyPr wrap="square"/>
                    <a:lstStyle/>
                    <a:p>
                      <a:pPr algn="ctr"/>
                      <a:r>
                        <a:rPr sz="1300" b="0">
                          <a:solidFill>
                            <a:srgbClr val="1A1A1A"/>
                          </a:solidFill>
                          <a:latin typeface="Times New Roman"/>
                        </a:rPr>
                        <a:t>1.027</a:t>
                      </a:r>
                    </a:p>
                  </a:txBody>
                  <a:tcPr anchor="ctr" marL="45720" marR="45720" marT="18288" marB="18288">
                    <a:solidFill>
                      <a:srgbClr val="FFFFFF"/>
                    </a:solidFill>
                  </a:tcPr>
                </a:tc>
                <a:tc>
                  <a:txBody>
                    <a:bodyPr wrap="square"/>
                    <a:lstStyle/>
                    <a:p>
                      <a:pPr algn="l"/>
                      <a:r>
                        <a:rPr sz="1300" b="0">
                          <a:solidFill>
                            <a:srgbClr val="1A1A1A"/>
                          </a:solidFill>
                          <a:latin typeface="Times New Roman"/>
                        </a:rPr>
                        <a:t>Close to 1</a:t>
                      </a:r>
                    </a:p>
                  </a:txBody>
                  <a:tcPr anchor="ctr" marL="45720" marR="45720" marT="18288" marB="18288">
                    <a:solidFill>
                      <a:srgbClr val="FFFFFF"/>
                    </a:solidFill>
                  </a:tcPr>
                </a:tc>
              </a:tr>
              <a:tr h="326574">
                <a:tc>
                  <a:txBody>
                    <a:bodyPr wrap="square"/>
                    <a:lstStyle/>
                    <a:p>
                      <a:pPr algn="l"/>
                      <a:r>
                        <a:rPr sz="1300" b="0">
                          <a:solidFill>
                            <a:srgbClr val="1A1A1A"/>
                          </a:solidFill>
                          <a:latin typeface="Times New Roman"/>
                        </a:rPr>
                        <a:t>Variance ratio, q = 16</a:t>
                      </a:r>
                    </a:p>
                  </a:txBody>
                  <a:tcPr anchor="ctr" marL="45720" marR="45720" marT="18288" marB="18288">
                    <a:solidFill>
                      <a:srgbClr val="EEF1F7"/>
                    </a:solidFill>
                  </a:tcPr>
                </a:tc>
                <a:tc>
                  <a:txBody>
                    <a:bodyPr wrap="square"/>
                    <a:lstStyle/>
                    <a:p>
                      <a:pPr algn="l"/>
                      <a:r>
                        <a:rPr sz="1300" b="0">
                          <a:solidFill>
                            <a:srgbClr val="1A1A1A"/>
                          </a:solidFill>
                          <a:latin typeface="Times New Roman"/>
                        </a:rPr>
                        <a:t>Returns</a:t>
                      </a:r>
                    </a:p>
                  </a:txBody>
                  <a:tcPr anchor="ctr" marL="45720" marR="45720" marT="18288" marB="18288">
                    <a:solidFill>
                      <a:srgbClr val="EEF1F7"/>
                    </a:solidFill>
                  </a:tcPr>
                </a:tc>
                <a:tc>
                  <a:txBody>
                    <a:bodyPr wrap="square"/>
                    <a:lstStyle/>
                    <a:p>
                      <a:pPr algn="ctr"/>
                      <a:r>
                        <a:rPr sz="1300" b="0">
                          <a:solidFill>
                            <a:srgbClr val="1A1A1A"/>
                          </a:solidFill>
                          <a:latin typeface="Times New Roman"/>
                        </a:rPr>
                        <a:t>1.034</a:t>
                      </a:r>
                    </a:p>
                  </a:txBody>
                  <a:tcPr anchor="ctr" marL="45720" marR="45720" marT="18288" marB="18288">
                    <a:solidFill>
                      <a:srgbClr val="EEF1F7"/>
                    </a:solidFill>
                  </a:tcPr>
                </a:tc>
                <a:tc>
                  <a:txBody>
                    <a:bodyPr wrap="square"/>
                    <a:lstStyle/>
                    <a:p>
                      <a:pPr algn="ctr"/>
                      <a:r>
                        <a:rPr sz="1300" b="0">
                          <a:solidFill>
                            <a:srgbClr val="1A1A1A"/>
                          </a:solidFill>
                          <a:latin typeface="Times New Roman"/>
                        </a:rPr>
                        <a:t>1.071</a:t>
                      </a:r>
                    </a:p>
                  </a:txBody>
                  <a:tcPr anchor="ctr" marL="45720" marR="45720" marT="18288" marB="18288">
                    <a:solidFill>
                      <a:srgbClr val="EEF1F7"/>
                    </a:solidFill>
                  </a:tcPr>
                </a:tc>
                <a:tc>
                  <a:txBody>
                    <a:bodyPr wrap="square"/>
                    <a:lstStyle/>
                    <a:p>
                      <a:pPr algn="l"/>
                      <a:r>
                        <a:rPr sz="1300" b="0">
                          <a:solidFill>
                            <a:srgbClr val="1A1A1A"/>
                          </a:solidFill>
                          <a:latin typeface="Times New Roman"/>
                        </a:rPr>
                        <a:t>Close to 1</a:t>
                      </a:r>
                    </a:p>
                  </a:txBody>
                  <a:tcPr anchor="ctr" marL="45720" marR="45720" marT="18288" marB="18288">
                    <a:solidFill>
                      <a:srgbClr val="EEF1F7"/>
                    </a:solidFill>
                  </a:tcPr>
                </a:tc>
              </a:tr>
            </a:tbl>
          </a:graphicData>
        </a:graphic>
      </p:graphicFrame>
      <p:sp>
        <p:nvSpPr>
          <p:cNvPr id="5" name="TextBox 4"/>
          <p:cNvSpPr txBox="1"/>
          <p:nvPr/>
        </p:nvSpPr>
        <p:spPr>
          <a:xfrm>
            <a:off x="914400" y="3886200"/>
            <a:ext cx="10363200" cy="1600200"/>
          </a:xfrm>
          <a:prstGeom prst="rect">
            <a:avLst/>
          </a:prstGeom>
          <a:noFill/>
        </p:spPr>
        <p:txBody>
          <a:bodyPr wrap="square">
            <a:spAutoFit/>
          </a:bodyPr>
          <a:lstStyle/>
          <a:p>
            <a:pPr algn="just">
              <a:lnSpc>
                <a:spcPct val="105000"/>
              </a:lnSpc>
              <a:spcBef>
                <a:spcPts val="0"/>
              </a:spcBef>
              <a:spcAft>
                <a:spcPts val="0"/>
              </a:spcAft>
            </a:pPr>
            <a:r>
              <a:rPr sz="1500" b="1">
                <a:solidFill>
                  <a:srgbClr val="001F5F"/>
                </a:solidFill>
                <a:latin typeface="Times New Roman"/>
              </a:rPr>
              <a:t>▪  </a:t>
            </a:r>
            <a:r>
              <a:rPr sz="1500" b="0">
                <a:solidFill>
                  <a:srgbClr val="1A1A1A"/>
                </a:solidFill>
                <a:latin typeface="Times New Roman"/>
              </a:rPr>
              <a:t>Prices are not stationary but returns are, so all later work is done on returns. The 5 per cent table value for the ADF test is -2.86.</a:t>
            </a:r>
          </a:p>
          <a:p>
            <a:pPr algn="just">
              <a:lnSpc>
                <a:spcPct val="105000"/>
              </a:lnSpc>
              <a:spcBef>
                <a:spcPts val="1200"/>
              </a:spcBef>
              <a:spcAft>
                <a:spcPts val="0"/>
              </a:spcAft>
            </a:pPr>
            <a:r>
              <a:rPr sz="1500" b="1">
                <a:solidFill>
                  <a:srgbClr val="001F5F"/>
                </a:solidFill>
                <a:latin typeface="Times New Roman"/>
              </a:rPr>
              <a:t>▪  </a:t>
            </a:r>
            <a:r>
              <a:rPr sz="1500" b="0">
                <a:solidFill>
                  <a:srgbClr val="1A1A1A"/>
                </a:solidFill>
                <a:latin typeface="Times New Roman"/>
              </a:rPr>
              <a:t>The variance ratio stays close to 1. This means the direction of the market cannot be predicted from past prices in any useful way.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512064"/>
            <a:ext cx="11094720" cy="594360"/>
          </a:xfrm>
          <a:prstGeom prst="rect">
            <a:avLst/>
          </a:prstGeom>
          <a:noFill/>
        </p:spPr>
        <p:txBody>
          <a:bodyPr wrap="square" anchor="ctr">
            <a:spAutoFit/>
          </a:bodyPr>
          <a:lstStyle/>
          <a:p>
            <a:r>
              <a:rPr sz="3000" b="1">
                <a:solidFill>
                  <a:srgbClr val="001F5F"/>
                </a:solidFill>
                <a:latin typeface="Times New Roman"/>
              </a:rPr>
              <a:t>Result 3 — Do Big Moves Come Together?</a:t>
            </a:r>
          </a:p>
        </p:txBody>
      </p:sp>
      <p:sp>
        <p:nvSpPr>
          <p:cNvPr id="3" name="Rectangle 2"/>
          <p:cNvSpPr/>
          <p:nvPr/>
        </p:nvSpPr>
        <p:spPr>
          <a:xfrm>
            <a:off x="548640" y="1143000"/>
            <a:ext cx="2200000" cy="38100"/>
          </a:xfrm>
          <a:prstGeom prst="rect">
            <a:avLst/>
          </a:prstGeom>
          <a:solidFill>
            <a:srgbClr val="8C1D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914400" y="1310640"/>
          <a:ext cx="10363200" cy="1371600"/>
        </p:xfrm>
        <a:graphic>
          <a:graphicData uri="http://schemas.openxmlformats.org/drawingml/2006/table">
            <a:tbl>
              <a:tblPr firstRow="0" bandRow="0">
                <a:tableStyleId>{5C22544A-7EE6-4342-B048-85BDC9FD1C3A}</a:tableStyleId>
              </a:tblPr>
              <a:tblGrid>
                <a:gridCol w="3657600"/>
                <a:gridCol w="1676400"/>
                <a:gridCol w="1600200"/>
                <a:gridCol w="1676400"/>
                <a:gridCol w="1752600"/>
              </a:tblGrid>
              <a:tr h="342900">
                <a:tc>
                  <a:txBody>
                    <a:bodyPr wrap="square"/>
                    <a:lstStyle/>
                    <a:p>
                      <a:pPr algn="ctr"/>
                      <a:r>
                        <a:rPr sz="1300" b="1">
                          <a:solidFill>
                            <a:srgbClr val="FFFFFF"/>
                          </a:solidFill>
                          <a:latin typeface="Times New Roman"/>
                        </a:rPr>
                        <a:t>Test</a:t>
                      </a:r>
                    </a:p>
                  </a:txBody>
                  <a:tcPr anchor="ctr" marL="45720" marR="45720" marT="18288" marB="18288">
                    <a:solidFill>
                      <a:srgbClr val="001F5F"/>
                    </a:solidFill>
                  </a:tcPr>
                </a:tc>
                <a:tc>
                  <a:txBody>
                    <a:bodyPr wrap="square"/>
                    <a:lstStyle/>
                    <a:p>
                      <a:pPr algn="ctr"/>
                      <a:r>
                        <a:rPr sz="1300" b="1">
                          <a:solidFill>
                            <a:srgbClr val="FFFFFF"/>
                          </a:solidFill>
                          <a:latin typeface="Times New Roman"/>
                        </a:rPr>
                        <a:t>Nifty 50</a:t>
                      </a:r>
                    </a:p>
                  </a:txBody>
                  <a:tcPr anchor="ctr" marL="45720" marR="45720" marT="18288" marB="18288">
                    <a:solidFill>
                      <a:srgbClr val="001F5F"/>
                    </a:solidFill>
                  </a:tcPr>
                </a:tc>
                <a:tc>
                  <a:txBody>
                    <a:bodyPr wrap="square"/>
                    <a:lstStyle/>
                    <a:p>
                      <a:pPr algn="ctr"/>
                      <a:r>
                        <a:rPr sz="1300" b="1">
                          <a:solidFill>
                            <a:srgbClr val="FFFFFF"/>
                          </a:solidFill>
                          <a:latin typeface="Times New Roman"/>
                        </a:rPr>
                        <a:t>p value</a:t>
                      </a:r>
                    </a:p>
                  </a:txBody>
                  <a:tcPr anchor="ctr" marL="45720" marR="45720" marT="18288" marB="18288">
                    <a:solidFill>
                      <a:srgbClr val="001F5F"/>
                    </a:solidFill>
                  </a:tcPr>
                </a:tc>
                <a:tc>
                  <a:txBody>
                    <a:bodyPr wrap="square"/>
                    <a:lstStyle/>
                    <a:p>
                      <a:pPr algn="ctr"/>
                      <a:r>
                        <a:rPr sz="1300" b="1">
                          <a:solidFill>
                            <a:srgbClr val="FFFFFF"/>
                          </a:solidFill>
                          <a:latin typeface="Times New Roman"/>
                        </a:rPr>
                        <a:t>Sensex</a:t>
                      </a:r>
                    </a:p>
                  </a:txBody>
                  <a:tcPr anchor="ctr" marL="45720" marR="45720" marT="18288" marB="18288">
                    <a:solidFill>
                      <a:srgbClr val="001F5F"/>
                    </a:solidFill>
                  </a:tcPr>
                </a:tc>
                <a:tc>
                  <a:txBody>
                    <a:bodyPr wrap="square"/>
                    <a:lstStyle/>
                    <a:p>
                      <a:pPr algn="ctr"/>
                      <a:r>
                        <a:rPr sz="1300" b="1">
                          <a:solidFill>
                            <a:srgbClr val="FFFFFF"/>
                          </a:solidFill>
                          <a:latin typeface="Times New Roman"/>
                        </a:rPr>
                        <a:t>p value</a:t>
                      </a:r>
                    </a:p>
                  </a:txBody>
                  <a:tcPr anchor="ctr" marL="45720" marR="45720" marT="18288" marB="18288">
                    <a:solidFill>
                      <a:srgbClr val="001F5F"/>
                    </a:solidFill>
                  </a:tcPr>
                </a:tc>
              </a:tr>
              <a:tr h="342900">
                <a:tc>
                  <a:txBody>
                    <a:bodyPr wrap="square"/>
                    <a:lstStyle/>
                    <a:p>
                      <a:pPr algn="l"/>
                      <a:r>
                        <a:rPr sz="1300" b="0">
                          <a:solidFill>
                            <a:srgbClr val="1A1A1A"/>
                          </a:solidFill>
                          <a:latin typeface="Times New Roman"/>
                        </a:rPr>
                        <a:t>Ljung-Box on returns</a:t>
                      </a:r>
                    </a:p>
                  </a:txBody>
                  <a:tcPr anchor="ctr" marL="45720" marR="45720" marT="18288" marB="18288">
                    <a:solidFill>
                      <a:srgbClr val="FFFFFF"/>
                    </a:solidFill>
                  </a:tcPr>
                </a:tc>
                <a:tc>
                  <a:txBody>
                    <a:bodyPr wrap="square"/>
                    <a:lstStyle/>
                    <a:p>
                      <a:pPr algn="ctr"/>
                      <a:r>
                        <a:rPr sz="1300" b="0">
                          <a:solidFill>
                            <a:srgbClr val="1A1A1A"/>
                          </a:solidFill>
                          <a:latin typeface="Times New Roman"/>
                        </a:rPr>
                        <a:t>39.4</a:t>
                      </a:r>
                    </a:p>
                  </a:txBody>
                  <a:tcPr anchor="ctr" marL="45720" marR="45720" marT="18288" marB="18288">
                    <a:solidFill>
                      <a:srgbClr val="FFFFFF"/>
                    </a:solidFill>
                  </a:tcPr>
                </a:tc>
                <a:tc>
                  <a:txBody>
                    <a:bodyPr wrap="square"/>
                    <a:lstStyle/>
                    <a:p>
                      <a:pPr algn="ctr"/>
                      <a:r>
                        <a:rPr sz="1300" b="0">
                          <a:solidFill>
                            <a:srgbClr val="1A1A1A"/>
                          </a:solidFill>
                          <a:latin typeface="Times New Roman"/>
                        </a:rPr>
                        <a:t>below 0.001</a:t>
                      </a:r>
                    </a:p>
                  </a:txBody>
                  <a:tcPr anchor="ctr" marL="45720" marR="45720" marT="18288" marB="18288">
                    <a:solidFill>
                      <a:srgbClr val="FFFFFF"/>
                    </a:solidFill>
                  </a:tcPr>
                </a:tc>
                <a:tc>
                  <a:txBody>
                    <a:bodyPr wrap="square"/>
                    <a:lstStyle/>
                    <a:p>
                      <a:pPr algn="ctr"/>
                      <a:r>
                        <a:rPr sz="1300" b="0">
                          <a:solidFill>
                            <a:srgbClr val="1A1A1A"/>
                          </a:solidFill>
                          <a:latin typeface="Times New Roman"/>
                        </a:rPr>
                        <a:t>48.3</a:t>
                      </a:r>
                    </a:p>
                  </a:txBody>
                  <a:tcPr anchor="ctr" marL="45720" marR="45720" marT="18288" marB="18288">
                    <a:solidFill>
                      <a:srgbClr val="FFFFFF"/>
                    </a:solidFill>
                  </a:tcPr>
                </a:tc>
                <a:tc>
                  <a:txBody>
                    <a:bodyPr wrap="square"/>
                    <a:lstStyle/>
                    <a:p>
                      <a:pPr algn="ctr"/>
                      <a:r>
                        <a:rPr sz="1300" b="0">
                          <a:solidFill>
                            <a:srgbClr val="1A1A1A"/>
                          </a:solidFill>
                          <a:latin typeface="Times New Roman"/>
                        </a:rPr>
                        <a:t>below 0.001</a:t>
                      </a:r>
                    </a:p>
                  </a:txBody>
                  <a:tcPr anchor="ctr" marL="45720" marR="45720" marT="18288" marB="18288">
                    <a:solidFill>
                      <a:srgbClr val="FFFFFF"/>
                    </a:solidFill>
                  </a:tcPr>
                </a:tc>
              </a:tr>
              <a:tr h="342900">
                <a:tc>
                  <a:txBody>
                    <a:bodyPr wrap="square"/>
                    <a:lstStyle/>
                    <a:p>
                      <a:pPr algn="l"/>
                      <a:r>
                        <a:rPr sz="1300" b="0">
                          <a:solidFill>
                            <a:srgbClr val="1A1A1A"/>
                          </a:solidFill>
                          <a:latin typeface="Times New Roman"/>
                        </a:rPr>
                        <a:t>Ljung-Box on squared returns</a:t>
                      </a:r>
                    </a:p>
                  </a:txBody>
                  <a:tcPr anchor="ctr" marL="45720" marR="45720" marT="18288" marB="18288">
                    <a:solidFill>
                      <a:srgbClr val="EEF1F7"/>
                    </a:solidFill>
                  </a:tcPr>
                </a:tc>
                <a:tc>
                  <a:txBody>
                    <a:bodyPr wrap="square"/>
                    <a:lstStyle/>
                    <a:p>
                      <a:pPr algn="ctr"/>
                      <a:r>
                        <a:rPr sz="1300" b="0">
                          <a:solidFill>
                            <a:srgbClr val="1A1A1A"/>
                          </a:solidFill>
                          <a:latin typeface="Times New Roman"/>
                        </a:rPr>
                        <a:t>1,625</a:t>
                      </a:r>
                    </a:p>
                  </a:txBody>
                  <a:tcPr anchor="ctr" marL="45720" marR="45720" marT="18288" marB="18288">
                    <a:solidFill>
                      <a:srgbClr val="EEF1F7"/>
                    </a:solidFill>
                  </a:tcPr>
                </a:tc>
                <a:tc>
                  <a:txBody>
                    <a:bodyPr wrap="square"/>
                    <a:lstStyle/>
                    <a:p>
                      <a:pPr algn="ctr"/>
                      <a:r>
                        <a:rPr sz="1300" b="0">
                          <a:solidFill>
                            <a:srgbClr val="1A1A1A"/>
                          </a:solidFill>
                          <a:latin typeface="Times New Roman"/>
                        </a:rPr>
                        <a:t>below 0.001</a:t>
                      </a:r>
                    </a:p>
                  </a:txBody>
                  <a:tcPr anchor="ctr" marL="45720" marR="45720" marT="18288" marB="18288">
                    <a:solidFill>
                      <a:srgbClr val="EEF1F7"/>
                    </a:solidFill>
                  </a:tcPr>
                </a:tc>
                <a:tc>
                  <a:txBody>
                    <a:bodyPr wrap="square"/>
                    <a:lstStyle/>
                    <a:p>
                      <a:pPr algn="ctr"/>
                      <a:r>
                        <a:rPr sz="1300" b="0">
                          <a:solidFill>
                            <a:srgbClr val="1A1A1A"/>
                          </a:solidFill>
                          <a:latin typeface="Times New Roman"/>
                        </a:rPr>
                        <a:t>2,585</a:t>
                      </a:r>
                    </a:p>
                  </a:txBody>
                  <a:tcPr anchor="ctr" marL="45720" marR="45720" marT="18288" marB="18288">
                    <a:solidFill>
                      <a:srgbClr val="EEF1F7"/>
                    </a:solidFill>
                  </a:tcPr>
                </a:tc>
                <a:tc>
                  <a:txBody>
                    <a:bodyPr wrap="square"/>
                    <a:lstStyle/>
                    <a:p>
                      <a:pPr algn="ctr"/>
                      <a:r>
                        <a:rPr sz="1300" b="0">
                          <a:solidFill>
                            <a:srgbClr val="1A1A1A"/>
                          </a:solidFill>
                          <a:latin typeface="Times New Roman"/>
                        </a:rPr>
                        <a:t>below 0.001</a:t>
                      </a:r>
                    </a:p>
                  </a:txBody>
                  <a:tcPr anchor="ctr" marL="45720" marR="45720" marT="18288" marB="18288">
                    <a:solidFill>
                      <a:srgbClr val="EEF1F7"/>
                    </a:solidFill>
                  </a:tcPr>
                </a:tc>
              </a:tr>
              <a:tr h="342900">
                <a:tc>
                  <a:txBody>
                    <a:bodyPr wrap="square"/>
                    <a:lstStyle/>
                    <a:p>
                      <a:pPr algn="l"/>
                      <a:r>
                        <a:rPr sz="1300" b="0">
                          <a:solidFill>
                            <a:srgbClr val="1A1A1A"/>
                          </a:solidFill>
                          <a:latin typeface="Times New Roman"/>
                        </a:rPr>
                        <a:t>ARCH test (5 lags)</a:t>
                      </a:r>
                    </a:p>
                  </a:txBody>
                  <a:tcPr anchor="ctr" marL="45720" marR="45720" marT="18288" marB="18288">
                    <a:solidFill>
                      <a:srgbClr val="FFFFFF"/>
                    </a:solidFill>
                  </a:tcPr>
                </a:tc>
                <a:tc>
                  <a:txBody>
                    <a:bodyPr wrap="square"/>
                    <a:lstStyle/>
                    <a:p>
                      <a:pPr algn="ctr"/>
                      <a:r>
                        <a:rPr sz="1300" b="0">
                          <a:solidFill>
                            <a:srgbClr val="1A1A1A"/>
                          </a:solidFill>
                          <a:latin typeface="Times New Roman"/>
                        </a:rPr>
                        <a:t>485</a:t>
                      </a:r>
                    </a:p>
                  </a:txBody>
                  <a:tcPr anchor="ctr" marL="45720" marR="45720" marT="18288" marB="18288">
                    <a:solidFill>
                      <a:srgbClr val="FFFFFF"/>
                    </a:solidFill>
                  </a:tcPr>
                </a:tc>
                <a:tc>
                  <a:txBody>
                    <a:bodyPr wrap="square"/>
                    <a:lstStyle/>
                    <a:p>
                      <a:pPr algn="ctr"/>
                      <a:r>
                        <a:rPr sz="1300" b="0">
                          <a:solidFill>
                            <a:srgbClr val="1A1A1A"/>
                          </a:solidFill>
                          <a:latin typeface="Times New Roman"/>
                        </a:rPr>
                        <a:t>below 0.001</a:t>
                      </a:r>
                    </a:p>
                  </a:txBody>
                  <a:tcPr anchor="ctr" marL="45720" marR="45720" marT="18288" marB="18288">
                    <a:solidFill>
                      <a:srgbClr val="FFFFFF"/>
                    </a:solidFill>
                  </a:tcPr>
                </a:tc>
                <a:tc>
                  <a:txBody>
                    <a:bodyPr wrap="square"/>
                    <a:lstStyle/>
                    <a:p>
                      <a:pPr algn="ctr"/>
                      <a:r>
                        <a:rPr sz="1300" b="0">
                          <a:solidFill>
                            <a:srgbClr val="1A1A1A"/>
                          </a:solidFill>
                          <a:latin typeface="Times New Roman"/>
                        </a:rPr>
                        <a:t>790</a:t>
                      </a:r>
                    </a:p>
                  </a:txBody>
                  <a:tcPr anchor="ctr" marL="45720" marR="45720" marT="18288" marB="18288">
                    <a:solidFill>
                      <a:srgbClr val="FFFFFF"/>
                    </a:solidFill>
                  </a:tcPr>
                </a:tc>
                <a:tc>
                  <a:txBody>
                    <a:bodyPr wrap="square"/>
                    <a:lstStyle/>
                    <a:p>
                      <a:pPr algn="ctr"/>
                      <a:r>
                        <a:rPr sz="1300" b="0">
                          <a:solidFill>
                            <a:srgbClr val="1A1A1A"/>
                          </a:solidFill>
                          <a:latin typeface="Times New Roman"/>
                        </a:rPr>
                        <a:t>below 0.001</a:t>
                      </a:r>
                    </a:p>
                  </a:txBody>
                  <a:tcPr anchor="ctr" marL="45720" marR="45720" marT="18288" marB="18288">
                    <a:solidFill>
                      <a:srgbClr val="FFFFFF"/>
                    </a:solidFill>
                  </a:tcPr>
                </a:tc>
              </a:tr>
            </a:tbl>
          </a:graphicData>
        </a:graphic>
      </p:graphicFrame>
      <p:pic>
        <p:nvPicPr>
          <p:cNvPr id="5" name="Picture 4" descr="fig4_acf.png"/>
          <p:cNvPicPr>
            <a:picLocks noChangeAspect="1"/>
          </p:cNvPicPr>
          <p:nvPr/>
        </p:nvPicPr>
        <p:blipFill>
          <a:blip r:embed="rId2"/>
          <a:stretch>
            <a:fillRect/>
          </a:stretch>
        </p:blipFill>
        <p:spPr>
          <a:xfrm>
            <a:off x="2921000" y="2895600"/>
            <a:ext cx="6350000" cy="2892778"/>
          </a:xfrm>
          <a:prstGeom prst="rect">
            <a:avLst/>
          </a:prstGeom>
        </p:spPr>
      </p:pic>
      <p:sp>
        <p:nvSpPr>
          <p:cNvPr id="6" name="TextBox 5"/>
          <p:cNvSpPr txBox="1"/>
          <p:nvPr/>
        </p:nvSpPr>
        <p:spPr>
          <a:xfrm>
            <a:off x="548640" y="6019800"/>
            <a:ext cx="11094720" cy="274320"/>
          </a:xfrm>
          <a:prstGeom prst="rect">
            <a:avLst/>
          </a:prstGeom>
          <a:noFill/>
        </p:spPr>
        <p:txBody>
          <a:bodyPr wrap="square">
            <a:spAutoFit/>
          </a:bodyPr>
          <a:lstStyle/>
          <a:p>
            <a:r>
              <a:rPr sz="1100" i="1">
                <a:solidFill>
                  <a:srgbClr val="5A5A5A"/>
                </a:solidFill>
                <a:latin typeface="Times New Roman"/>
              </a:rPr>
              <a:t>Answer: Yes. The test on plain returns gives only 39.4, but on squared returns it gives 1,625, about forty times more. So the size of the move can be predicted even though the direction cannot.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512064"/>
            <a:ext cx="11094720" cy="594360"/>
          </a:xfrm>
          <a:prstGeom prst="rect">
            <a:avLst/>
          </a:prstGeom>
          <a:noFill/>
        </p:spPr>
        <p:txBody>
          <a:bodyPr wrap="square" anchor="ctr">
            <a:spAutoFit/>
          </a:bodyPr>
          <a:lstStyle/>
          <a:p>
            <a:r>
              <a:rPr sz="3000" b="1">
                <a:solidFill>
                  <a:srgbClr val="001F5F"/>
                </a:solidFill>
                <a:latin typeface="Times New Roman"/>
              </a:rPr>
              <a:t>Result 4 — The GARCH(1,1) Model</a:t>
            </a:r>
          </a:p>
        </p:txBody>
      </p:sp>
      <p:sp>
        <p:nvSpPr>
          <p:cNvPr id="3" name="Rectangle 2"/>
          <p:cNvSpPr/>
          <p:nvPr/>
        </p:nvSpPr>
        <p:spPr>
          <a:xfrm>
            <a:off x="548640" y="1143000"/>
            <a:ext cx="2200000" cy="38100"/>
          </a:xfrm>
          <a:prstGeom prst="rect">
            <a:avLst/>
          </a:prstGeom>
          <a:solidFill>
            <a:srgbClr val="8C1D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914400" y="1310640"/>
          <a:ext cx="10363200" cy="2133600"/>
        </p:xfrm>
        <a:graphic>
          <a:graphicData uri="http://schemas.openxmlformats.org/drawingml/2006/table">
            <a:tbl>
              <a:tblPr firstRow="0" bandRow="0">
                <a:tableStyleId>{5C22544A-7EE6-4342-B048-85BDC9FD1C3A}</a:tableStyleId>
              </a:tblPr>
              <a:tblGrid>
                <a:gridCol w="3200400"/>
                <a:gridCol w="1676400"/>
                <a:gridCol w="1676400"/>
                <a:gridCol w="3810000"/>
              </a:tblGrid>
              <a:tr h="304800">
                <a:tc>
                  <a:txBody>
                    <a:bodyPr wrap="square"/>
                    <a:lstStyle/>
                    <a:p>
                      <a:pPr algn="ctr"/>
                      <a:r>
                        <a:rPr sz="1300" b="1">
                          <a:solidFill>
                            <a:srgbClr val="FFFFFF"/>
                          </a:solidFill>
                          <a:latin typeface="Times New Roman"/>
                        </a:rPr>
                        <a:t>Value</a:t>
                      </a:r>
                    </a:p>
                  </a:txBody>
                  <a:tcPr anchor="ctr" marL="45720" marR="45720" marT="18288" marB="18288">
                    <a:solidFill>
                      <a:srgbClr val="001F5F"/>
                    </a:solidFill>
                  </a:tcPr>
                </a:tc>
                <a:tc>
                  <a:txBody>
                    <a:bodyPr wrap="square"/>
                    <a:lstStyle/>
                    <a:p>
                      <a:pPr algn="ctr"/>
                      <a:r>
                        <a:rPr sz="1300" b="1">
                          <a:solidFill>
                            <a:srgbClr val="FFFFFF"/>
                          </a:solidFill>
                          <a:latin typeface="Times New Roman"/>
                        </a:rPr>
                        <a:t>Nifty 50</a:t>
                      </a:r>
                    </a:p>
                  </a:txBody>
                  <a:tcPr anchor="ctr" marL="45720" marR="45720" marT="18288" marB="18288">
                    <a:solidFill>
                      <a:srgbClr val="001F5F"/>
                    </a:solidFill>
                  </a:tcPr>
                </a:tc>
                <a:tc>
                  <a:txBody>
                    <a:bodyPr wrap="square"/>
                    <a:lstStyle/>
                    <a:p>
                      <a:pPr algn="ctr"/>
                      <a:r>
                        <a:rPr sz="1300" b="1">
                          <a:solidFill>
                            <a:srgbClr val="FFFFFF"/>
                          </a:solidFill>
                          <a:latin typeface="Times New Roman"/>
                        </a:rPr>
                        <a:t>Sensex</a:t>
                      </a:r>
                    </a:p>
                  </a:txBody>
                  <a:tcPr anchor="ctr" marL="45720" marR="45720" marT="18288" marB="18288">
                    <a:solidFill>
                      <a:srgbClr val="001F5F"/>
                    </a:solidFill>
                  </a:tcPr>
                </a:tc>
                <a:tc>
                  <a:txBody>
                    <a:bodyPr wrap="square"/>
                    <a:lstStyle/>
                    <a:p>
                      <a:pPr algn="ctr"/>
                      <a:r>
                        <a:rPr sz="1300" b="1">
                          <a:solidFill>
                            <a:srgbClr val="FFFFFF"/>
                          </a:solidFill>
                          <a:latin typeface="Times New Roman"/>
                        </a:rPr>
                        <a:t>Meaning</a:t>
                      </a:r>
                    </a:p>
                  </a:txBody>
                  <a:tcPr anchor="ctr" marL="45720" marR="45720" marT="18288" marB="18288">
                    <a:solidFill>
                      <a:srgbClr val="001F5F"/>
                    </a:solidFill>
                  </a:tcPr>
                </a:tc>
              </a:tr>
              <a:tr h="304800">
                <a:tc>
                  <a:txBody>
                    <a:bodyPr wrap="square"/>
                    <a:lstStyle/>
                    <a:p>
                      <a:pPr algn="l"/>
                      <a:r>
                        <a:rPr sz="1300" b="0">
                          <a:solidFill>
                            <a:srgbClr val="1A1A1A"/>
                          </a:solidFill>
                          <a:latin typeface="Times New Roman"/>
                        </a:rPr>
                        <a:t>alpha</a:t>
                      </a:r>
                    </a:p>
                  </a:txBody>
                  <a:tcPr anchor="ctr" marL="45720" marR="45720" marT="18288" marB="18288">
                    <a:solidFill>
                      <a:srgbClr val="FFFFFF"/>
                    </a:solidFill>
                  </a:tcPr>
                </a:tc>
                <a:tc>
                  <a:txBody>
                    <a:bodyPr wrap="square"/>
                    <a:lstStyle/>
                    <a:p>
                      <a:pPr algn="ctr"/>
                      <a:r>
                        <a:rPr sz="1300" b="0">
                          <a:solidFill>
                            <a:srgbClr val="1A1A1A"/>
                          </a:solidFill>
                          <a:latin typeface="Times New Roman"/>
                        </a:rPr>
                        <a:t>0.0952</a:t>
                      </a:r>
                    </a:p>
                  </a:txBody>
                  <a:tcPr anchor="ctr" marL="45720" marR="45720" marT="18288" marB="18288">
                    <a:solidFill>
                      <a:srgbClr val="FFFFFF"/>
                    </a:solidFill>
                  </a:tcPr>
                </a:tc>
                <a:tc>
                  <a:txBody>
                    <a:bodyPr wrap="square"/>
                    <a:lstStyle/>
                    <a:p>
                      <a:pPr algn="ctr"/>
                      <a:r>
                        <a:rPr sz="1300" b="0">
                          <a:solidFill>
                            <a:srgbClr val="1A1A1A"/>
                          </a:solidFill>
                          <a:latin typeface="Times New Roman"/>
                        </a:rPr>
                        <a:t>0.1063</a:t>
                      </a:r>
                    </a:p>
                  </a:txBody>
                  <a:tcPr anchor="ctr" marL="45720" marR="45720" marT="18288" marB="18288">
                    <a:solidFill>
                      <a:srgbClr val="FFFFFF"/>
                    </a:solidFill>
                  </a:tcPr>
                </a:tc>
                <a:tc>
                  <a:txBody>
                    <a:bodyPr wrap="square"/>
                    <a:lstStyle/>
                    <a:p>
                      <a:pPr algn="l"/>
                      <a:r>
                        <a:rPr sz="1300" b="0">
                          <a:solidFill>
                            <a:srgbClr val="1A1A1A"/>
                          </a:solidFill>
                          <a:latin typeface="Times New Roman"/>
                        </a:rPr>
                        <a:t>Effect of yesterday's move</a:t>
                      </a:r>
                    </a:p>
                  </a:txBody>
                  <a:tcPr anchor="ctr" marL="45720" marR="45720" marT="18288" marB="18288">
                    <a:solidFill>
                      <a:srgbClr val="FFFFFF"/>
                    </a:solidFill>
                  </a:tcPr>
                </a:tc>
              </a:tr>
              <a:tr h="304800">
                <a:tc>
                  <a:txBody>
                    <a:bodyPr wrap="square"/>
                    <a:lstStyle/>
                    <a:p>
                      <a:pPr algn="l"/>
                      <a:r>
                        <a:rPr sz="1300" b="0">
                          <a:solidFill>
                            <a:srgbClr val="1A1A1A"/>
                          </a:solidFill>
                          <a:latin typeface="Times New Roman"/>
                        </a:rPr>
                        <a:t>beta</a:t>
                      </a:r>
                    </a:p>
                  </a:txBody>
                  <a:tcPr anchor="ctr" marL="45720" marR="45720" marT="18288" marB="18288">
                    <a:solidFill>
                      <a:srgbClr val="EEF1F7"/>
                    </a:solidFill>
                  </a:tcPr>
                </a:tc>
                <a:tc>
                  <a:txBody>
                    <a:bodyPr wrap="square"/>
                    <a:lstStyle/>
                    <a:p>
                      <a:pPr algn="ctr"/>
                      <a:r>
                        <a:rPr sz="1300" b="0">
                          <a:solidFill>
                            <a:srgbClr val="1A1A1A"/>
                          </a:solidFill>
                          <a:latin typeface="Times New Roman"/>
                        </a:rPr>
                        <a:t>0.8975</a:t>
                      </a:r>
                    </a:p>
                  </a:txBody>
                  <a:tcPr anchor="ctr" marL="45720" marR="45720" marT="18288" marB="18288">
                    <a:solidFill>
                      <a:srgbClr val="EEF1F7"/>
                    </a:solidFill>
                  </a:tcPr>
                </a:tc>
                <a:tc>
                  <a:txBody>
                    <a:bodyPr wrap="square"/>
                    <a:lstStyle/>
                    <a:p>
                      <a:pPr algn="ctr"/>
                      <a:r>
                        <a:rPr sz="1300" b="0">
                          <a:solidFill>
                            <a:srgbClr val="1A1A1A"/>
                          </a:solidFill>
                          <a:latin typeface="Times New Roman"/>
                        </a:rPr>
                        <a:t>0.8850</a:t>
                      </a:r>
                    </a:p>
                  </a:txBody>
                  <a:tcPr anchor="ctr" marL="45720" marR="45720" marT="18288" marB="18288">
                    <a:solidFill>
                      <a:srgbClr val="EEF1F7"/>
                    </a:solidFill>
                  </a:tcPr>
                </a:tc>
                <a:tc>
                  <a:txBody>
                    <a:bodyPr wrap="square"/>
                    <a:lstStyle/>
                    <a:p>
                      <a:pPr algn="l"/>
                      <a:r>
                        <a:rPr sz="1300" b="0">
                          <a:solidFill>
                            <a:srgbClr val="1A1A1A"/>
                          </a:solidFill>
                          <a:latin typeface="Times New Roman"/>
                        </a:rPr>
                        <a:t>Effect of yesterday's risk level</a:t>
                      </a:r>
                    </a:p>
                  </a:txBody>
                  <a:tcPr anchor="ctr" marL="45720" marR="45720" marT="18288" marB="18288">
                    <a:solidFill>
                      <a:srgbClr val="EEF1F7"/>
                    </a:solidFill>
                  </a:tcPr>
                </a:tc>
              </a:tr>
              <a:tr h="304800">
                <a:tc>
                  <a:txBody>
                    <a:bodyPr wrap="square"/>
                    <a:lstStyle/>
                    <a:p>
                      <a:pPr algn="l"/>
                      <a:r>
                        <a:rPr sz="1300" b="0">
                          <a:solidFill>
                            <a:srgbClr val="1A1A1A"/>
                          </a:solidFill>
                          <a:latin typeface="Times New Roman"/>
                        </a:rPr>
                        <a:t>alpha + beta</a:t>
                      </a:r>
                    </a:p>
                  </a:txBody>
                  <a:tcPr anchor="ctr" marL="45720" marR="45720" marT="18288" marB="18288">
                    <a:solidFill>
                      <a:srgbClr val="FFFFFF"/>
                    </a:solidFill>
                  </a:tcPr>
                </a:tc>
                <a:tc>
                  <a:txBody>
                    <a:bodyPr wrap="square"/>
                    <a:lstStyle/>
                    <a:p>
                      <a:pPr algn="ctr"/>
                      <a:r>
                        <a:rPr sz="1300" b="0">
                          <a:solidFill>
                            <a:srgbClr val="1A1A1A"/>
                          </a:solidFill>
                          <a:latin typeface="Times New Roman"/>
                        </a:rPr>
                        <a:t>0.9927</a:t>
                      </a:r>
                    </a:p>
                  </a:txBody>
                  <a:tcPr anchor="ctr" marL="45720" marR="45720" marT="18288" marB="18288">
                    <a:solidFill>
                      <a:srgbClr val="FFFFFF"/>
                    </a:solidFill>
                  </a:tcPr>
                </a:tc>
                <a:tc>
                  <a:txBody>
                    <a:bodyPr wrap="square"/>
                    <a:lstStyle/>
                    <a:p>
                      <a:pPr algn="ctr"/>
                      <a:r>
                        <a:rPr sz="1300" b="0">
                          <a:solidFill>
                            <a:srgbClr val="1A1A1A"/>
                          </a:solidFill>
                          <a:latin typeface="Times New Roman"/>
                        </a:rPr>
                        <a:t>0.9913</a:t>
                      </a:r>
                    </a:p>
                  </a:txBody>
                  <a:tcPr anchor="ctr" marL="45720" marR="45720" marT="18288" marB="18288">
                    <a:solidFill>
                      <a:srgbClr val="FFFFFF"/>
                    </a:solidFill>
                  </a:tcPr>
                </a:tc>
                <a:tc>
                  <a:txBody>
                    <a:bodyPr wrap="square"/>
                    <a:lstStyle/>
                    <a:p>
                      <a:pPr algn="l"/>
                      <a:r>
                        <a:rPr sz="1300" b="0">
                          <a:solidFill>
                            <a:srgbClr val="1A1A1A"/>
                          </a:solidFill>
                          <a:latin typeface="Times New Roman"/>
                        </a:rPr>
                        <a:t>Below 1, so risk comes back to normal</a:t>
                      </a:r>
                    </a:p>
                  </a:txBody>
                  <a:tcPr anchor="ctr" marL="45720" marR="45720" marT="18288" marB="18288">
                    <a:solidFill>
                      <a:srgbClr val="FFFFFF"/>
                    </a:solidFill>
                  </a:tcPr>
                </a:tc>
              </a:tr>
              <a:tr h="304800">
                <a:tc>
                  <a:txBody>
                    <a:bodyPr wrap="square"/>
                    <a:lstStyle/>
                    <a:p>
                      <a:pPr algn="l"/>
                      <a:r>
                        <a:rPr sz="1300" b="0">
                          <a:solidFill>
                            <a:srgbClr val="1A1A1A"/>
                          </a:solidFill>
                          <a:latin typeface="Times New Roman"/>
                        </a:rPr>
                        <a:t>Half life (days)</a:t>
                      </a:r>
                    </a:p>
                  </a:txBody>
                  <a:tcPr anchor="ctr" marL="45720" marR="45720" marT="18288" marB="18288">
                    <a:solidFill>
                      <a:srgbClr val="EEF1F7"/>
                    </a:solidFill>
                  </a:tcPr>
                </a:tc>
                <a:tc>
                  <a:txBody>
                    <a:bodyPr wrap="square"/>
                    <a:lstStyle/>
                    <a:p>
                      <a:pPr algn="ctr"/>
                      <a:r>
                        <a:rPr sz="1300" b="0">
                          <a:solidFill>
                            <a:srgbClr val="1A1A1A"/>
                          </a:solidFill>
                          <a:latin typeface="Times New Roman"/>
                        </a:rPr>
                        <a:t>95</a:t>
                      </a:r>
                    </a:p>
                  </a:txBody>
                  <a:tcPr anchor="ctr" marL="45720" marR="45720" marT="18288" marB="18288">
                    <a:solidFill>
                      <a:srgbClr val="EEF1F7"/>
                    </a:solidFill>
                  </a:tcPr>
                </a:tc>
                <a:tc>
                  <a:txBody>
                    <a:bodyPr wrap="square"/>
                    <a:lstStyle/>
                    <a:p>
                      <a:pPr algn="ctr"/>
                      <a:r>
                        <a:rPr sz="1300" b="0">
                          <a:solidFill>
                            <a:srgbClr val="1A1A1A"/>
                          </a:solidFill>
                          <a:latin typeface="Times New Roman"/>
                        </a:rPr>
                        <a:t>80</a:t>
                      </a:r>
                    </a:p>
                  </a:txBody>
                  <a:tcPr anchor="ctr" marL="45720" marR="45720" marT="18288" marB="18288">
                    <a:solidFill>
                      <a:srgbClr val="EEF1F7"/>
                    </a:solidFill>
                  </a:tcPr>
                </a:tc>
                <a:tc>
                  <a:txBody>
                    <a:bodyPr wrap="square"/>
                    <a:lstStyle/>
                    <a:p>
                      <a:pPr algn="l"/>
                      <a:r>
                        <a:rPr sz="1300" b="0">
                          <a:solidFill>
                            <a:srgbClr val="1A1A1A"/>
                          </a:solidFill>
                          <a:latin typeface="Times New Roman"/>
                        </a:rPr>
                        <a:t>Time for a shock to reduce by half</a:t>
                      </a:r>
                    </a:p>
                  </a:txBody>
                  <a:tcPr anchor="ctr" marL="45720" marR="45720" marT="18288" marB="18288">
                    <a:solidFill>
                      <a:srgbClr val="EEF1F7"/>
                    </a:solidFill>
                  </a:tcPr>
                </a:tc>
              </a:tr>
              <a:tr h="304800">
                <a:tc>
                  <a:txBody>
                    <a:bodyPr wrap="square"/>
                    <a:lstStyle/>
                    <a:p>
                      <a:pPr algn="l"/>
                      <a:r>
                        <a:rPr sz="1300" b="0">
                          <a:solidFill>
                            <a:srgbClr val="1A1A1A"/>
                          </a:solidFill>
                          <a:latin typeface="Times New Roman"/>
                        </a:rPr>
                        <a:t>Long run risk level (%)</a:t>
                      </a:r>
                    </a:p>
                  </a:txBody>
                  <a:tcPr anchor="ctr" marL="45720" marR="45720" marT="18288" marB="18288">
                    <a:solidFill>
                      <a:srgbClr val="FFFFFF"/>
                    </a:solidFill>
                  </a:tcPr>
                </a:tc>
                <a:tc>
                  <a:txBody>
                    <a:bodyPr wrap="square"/>
                    <a:lstStyle/>
                    <a:p>
                      <a:pPr algn="ctr"/>
                      <a:r>
                        <a:rPr sz="1300" b="0">
                          <a:solidFill>
                            <a:srgbClr val="1A1A1A"/>
                          </a:solidFill>
                          <a:latin typeface="Times New Roman"/>
                        </a:rPr>
                        <a:t>22.5</a:t>
                      </a:r>
                    </a:p>
                  </a:txBody>
                  <a:tcPr anchor="ctr" marL="45720" marR="45720" marT="18288" marB="18288">
                    <a:solidFill>
                      <a:srgbClr val="FFFFFF"/>
                    </a:solidFill>
                  </a:tcPr>
                </a:tc>
                <a:tc>
                  <a:txBody>
                    <a:bodyPr wrap="square"/>
                    <a:lstStyle/>
                    <a:p>
                      <a:pPr algn="ctr"/>
                      <a:r>
                        <a:rPr sz="1300" b="0">
                          <a:solidFill>
                            <a:srgbClr val="1A1A1A"/>
                          </a:solidFill>
                          <a:latin typeface="Times New Roman"/>
                        </a:rPr>
                        <a:t>24.4</a:t>
                      </a:r>
                    </a:p>
                  </a:txBody>
                  <a:tcPr anchor="ctr" marL="45720" marR="45720" marT="18288" marB="18288">
                    <a:solidFill>
                      <a:srgbClr val="FFFFFF"/>
                    </a:solidFill>
                  </a:tcPr>
                </a:tc>
                <a:tc>
                  <a:txBody>
                    <a:bodyPr wrap="square"/>
                    <a:lstStyle/>
                    <a:p>
                      <a:pPr algn="l"/>
                      <a:r>
                        <a:rPr sz="1300" b="0">
                          <a:solidFill>
                            <a:srgbClr val="1A1A1A"/>
                          </a:solidFill>
                          <a:latin typeface="Times New Roman"/>
                        </a:rPr>
                        <a:t>Level the risk returns to</a:t>
                      </a:r>
                    </a:p>
                  </a:txBody>
                  <a:tcPr anchor="ctr" marL="45720" marR="45720" marT="18288" marB="18288">
                    <a:solidFill>
                      <a:srgbClr val="FFFFFF"/>
                    </a:solidFill>
                  </a:tcPr>
                </a:tc>
              </a:tr>
              <a:tr h="304800">
                <a:tc>
                  <a:txBody>
                    <a:bodyPr wrap="square"/>
                    <a:lstStyle/>
                    <a:p>
                      <a:pPr algn="l"/>
                      <a:r>
                        <a:rPr sz="1300" b="0">
                          <a:solidFill>
                            <a:srgbClr val="1A1A1A"/>
                          </a:solidFill>
                          <a:latin typeface="Times New Roman"/>
                        </a:rPr>
                        <a:t>ARCH test after fitting (p)</a:t>
                      </a:r>
                    </a:p>
                  </a:txBody>
                  <a:tcPr anchor="ctr" marL="45720" marR="45720" marT="18288" marB="18288">
                    <a:solidFill>
                      <a:srgbClr val="EEF1F7"/>
                    </a:solidFill>
                  </a:tcPr>
                </a:tc>
                <a:tc>
                  <a:txBody>
                    <a:bodyPr wrap="square"/>
                    <a:lstStyle/>
                    <a:p>
                      <a:pPr algn="ctr"/>
                      <a:r>
                        <a:rPr sz="1300" b="0">
                          <a:solidFill>
                            <a:srgbClr val="1A1A1A"/>
                          </a:solidFill>
                          <a:latin typeface="Times New Roman"/>
                        </a:rPr>
                        <a:t>0.48</a:t>
                      </a:r>
                    </a:p>
                  </a:txBody>
                  <a:tcPr anchor="ctr" marL="45720" marR="45720" marT="18288" marB="18288">
                    <a:solidFill>
                      <a:srgbClr val="EEF1F7"/>
                    </a:solidFill>
                  </a:tcPr>
                </a:tc>
                <a:tc>
                  <a:txBody>
                    <a:bodyPr wrap="square"/>
                    <a:lstStyle/>
                    <a:p>
                      <a:pPr algn="ctr"/>
                      <a:r>
                        <a:rPr sz="1300" b="0">
                          <a:solidFill>
                            <a:srgbClr val="1A1A1A"/>
                          </a:solidFill>
                          <a:latin typeface="Times New Roman"/>
                        </a:rPr>
                        <a:t>0.20</a:t>
                      </a:r>
                    </a:p>
                  </a:txBody>
                  <a:tcPr anchor="ctr" marL="45720" marR="45720" marT="18288" marB="18288">
                    <a:solidFill>
                      <a:srgbClr val="EEF1F7"/>
                    </a:solidFill>
                  </a:tcPr>
                </a:tc>
                <a:tc>
                  <a:txBody>
                    <a:bodyPr wrap="square"/>
                    <a:lstStyle/>
                    <a:p>
                      <a:pPr algn="l"/>
                      <a:r>
                        <a:rPr sz="1300" b="0">
                          <a:solidFill>
                            <a:srgbClr val="1A1A1A"/>
                          </a:solidFill>
                          <a:latin typeface="Times New Roman"/>
                        </a:rPr>
                        <a:t>Above 0.05, so the model is fine</a:t>
                      </a:r>
                    </a:p>
                  </a:txBody>
                  <a:tcPr anchor="ctr" marL="45720" marR="45720" marT="18288" marB="18288">
                    <a:solidFill>
                      <a:srgbClr val="EEF1F7"/>
                    </a:solidFill>
                  </a:tcPr>
                </a:tc>
              </a:tr>
            </a:tbl>
          </a:graphicData>
        </a:graphic>
      </p:graphicFrame>
      <p:pic>
        <p:nvPicPr>
          <p:cNvPr id="5" name="Picture 4" descr="fig5_garch.png"/>
          <p:cNvPicPr>
            <a:picLocks noChangeAspect="1"/>
          </p:cNvPicPr>
          <p:nvPr/>
        </p:nvPicPr>
        <p:blipFill>
          <a:blip r:embed="rId2"/>
          <a:stretch>
            <a:fillRect/>
          </a:stretch>
        </p:blipFill>
        <p:spPr>
          <a:xfrm>
            <a:off x="3496000" y="3600000"/>
            <a:ext cx="5200000" cy="2368889"/>
          </a:xfrm>
          <a:prstGeom prst="rect">
            <a:avLst/>
          </a:prstGeom>
        </p:spPr>
      </p:pic>
      <p:sp>
        <p:nvSpPr>
          <p:cNvPr id="6" name="TextBox 5"/>
          <p:cNvSpPr txBox="1"/>
          <p:nvPr/>
        </p:nvSpPr>
        <p:spPr>
          <a:xfrm>
            <a:off x="548640" y="6019800"/>
            <a:ext cx="11094720" cy="274320"/>
          </a:xfrm>
          <a:prstGeom prst="rect">
            <a:avLst/>
          </a:prstGeom>
          <a:noFill/>
        </p:spPr>
        <p:txBody>
          <a:bodyPr wrap="square">
            <a:spAutoFit/>
          </a:bodyPr>
          <a:lstStyle/>
          <a:p>
            <a:r>
              <a:rPr sz="1100" i="1">
                <a:solidFill>
                  <a:srgbClr val="5A5A5A"/>
                </a:solidFill>
                <a:latin typeface="Times New Roman"/>
              </a:rPr>
              <a:t>The half life is about 95 trading days, close to four and a half months. A shock keeps the risk level high for months, not for a day or two.</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512064"/>
            <a:ext cx="11094720" cy="594360"/>
          </a:xfrm>
          <a:prstGeom prst="rect">
            <a:avLst/>
          </a:prstGeom>
          <a:noFill/>
        </p:spPr>
        <p:txBody>
          <a:bodyPr wrap="square" anchor="ctr">
            <a:spAutoFit/>
          </a:bodyPr>
          <a:lstStyle/>
          <a:p>
            <a:r>
              <a:rPr sz="3000" b="1">
                <a:solidFill>
                  <a:srgbClr val="001F5F"/>
                </a:solidFill>
                <a:latin typeface="Times New Roman"/>
              </a:rPr>
              <a:t>Result 5 — Risk Numbers</a:t>
            </a:r>
          </a:p>
        </p:txBody>
      </p:sp>
      <p:sp>
        <p:nvSpPr>
          <p:cNvPr id="3" name="Rectangle 2"/>
          <p:cNvSpPr/>
          <p:nvPr/>
        </p:nvSpPr>
        <p:spPr>
          <a:xfrm>
            <a:off x="548640" y="1143000"/>
            <a:ext cx="2200000" cy="38100"/>
          </a:xfrm>
          <a:prstGeom prst="rect">
            <a:avLst/>
          </a:prstGeom>
          <a:solidFill>
            <a:srgbClr val="8C1D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1600200" y="1310640"/>
          <a:ext cx="8991600" cy="2743200"/>
        </p:xfrm>
        <a:graphic>
          <a:graphicData uri="http://schemas.openxmlformats.org/drawingml/2006/table">
            <a:tbl>
              <a:tblPr firstRow="0" bandRow="0">
                <a:tableStyleId>{5C22544A-7EE6-4342-B048-85BDC9FD1C3A}</a:tableStyleId>
              </a:tblPr>
              <a:tblGrid>
                <a:gridCol w="4419600"/>
                <a:gridCol w="2286000"/>
                <a:gridCol w="2286000"/>
              </a:tblGrid>
              <a:tr h="342900">
                <a:tc>
                  <a:txBody>
                    <a:bodyPr wrap="square"/>
                    <a:lstStyle/>
                    <a:p>
                      <a:pPr algn="ctr"/>
                      <a:r>
                        <a:rPr sz="1300" b="1">
                          <a:solidFill>
                            <a:srgbClr val="FFFFFF"/>
                          </a:solidFill>
                          <a:latin typeface="Times New Roman"/>
                        </a:rPr>
                        <a:t>Item</a:t>
                      </a:r>
                    </a:p>
                  </a:txBody>
                  <a:tcPr anchor="ctr" marL="45720" marR="45720" marT="18288" marB="18288">
                    <a:solidFill>
                      <a:srgbClr val="001F5F"/>
                    </a:solidFill>
                  </a:tcPr>
                </a:tc>
                <a:tc>
                  <a:txBody>
                    <a:bodyPr wrap="square"/>
                    <a:lstStyle/>
                    <a:p>
                      <a:pPr algn="ctr"/>
                      <a:r>
                        <a:rPr sz="1300" b="1">
                          <a:solidFill>
                            <a:srgbClr val="FFFFFF"/>
                          </a:solidFill>
                          <a:latin typeface="Times New Roman"/>
                        </a:rPr>
                        <a:t>Nifty 50</a:t>
                      </a:r>
                    </a:p>
                  </a:txBody>
                  <a:tcPr anchor="ctr" marL="45720" marR="45720" marT="18288" marB="18288">
                    <a:solidFill>
                      <a:srgbClr val="001F5F"/>
                    </a:solidFill>
                  </a:tcPr>
                </a:tc>
                <a:tc>
                  <a:txBody>
                    <a:bodyPr wrap="square"/>
                    <a:lstStyle/>
                    <a:p>
                      <a:pPr algn="ctr"/>
                      <a:r>
                        <a:rPr sz="1300" b="1">
                          <a:solidFill>
                            <a:srgbClr val="FFFFFF"/>
                          </a:solidFill>
                          <a:latin typeface="Times New Roman"/>
                        </a:rPr>
                        <a:t>Sensex</a:t>
                      </a:r>
                    </a:p>
                  </a:txBody>
                  <a:tcPr anchor="ctr" marL="45720" marR="45720" marT="18288" marB="18288">
                    <a:solidFill>
                      <a:srgbClr val="001F5F"/>
                    </a:solidFill>
                  </a:tcPr>
                </a:tc>
              </a:tr>
              <a:tr h="342900">
                <a:tc>
                  <a:txBody>
                    <a:bodyPr wrap="square"/>
                    <a:lstStyle/>
                    <a:p>
                      <a:pPr algn="l"/>
                      <a:r>
                        <a:rPr sz="1300" b="0">
                          <a:solidFill>
                            <a:srgbClr val="1A1A1A"/>
                          </a:solidFill>
                          <a:latin typeface="Times New Roman"/>
                        </a:rPr>
                        <a:t>Worst 1% daily loss, from real data (%)</a:t>
                      </a:r>
                    </a:p>
                  </a:txBody>
                  <a:tcPr anchor="ctr" marL="45720" marR="45720" marT="18288" marB="18288">
                    <a:solidFill>
                      <a:srgbClr val="FFFFFF"/>
                    </a:solidFill>
                  </a:tcPr>
                </a:tc>
                <a:tc>
                  <a:txBody>
                    <a:bodyPr wrap="square"/>
                    <a:lstStyle/>
                    <a:p>
                      <a:pPr algn="ctr"/>
                      <a:r>
                        <a:rPr sz="1300" b="0">
                          <a:solidFill>
                            <a:srgbClr val="1A1A1A"/>
                          </a:solidFill>
                          <a:latin typeface="Times New Roman"/>
                        </a:rPr>
                        <a:t>-3.62</a:t>
                      </a:r>
                    </a:p>
                  </a:txBody>
                  <a:tcPr anchor="ctr" marL="45720" marR="45720" marT="18288" marB="18288">
                    <a:solidFill>
                      <a:srgbClr val="FFFFFF"/>
                    </a:solidFill>
                  </a:tcPr>
                </a:tc>
                <a:tc>
                  <a:txBody>
                    <a:bodyPr wrap="square"/>
                    <a:lstStyle/>
                    <a:p>
                      <a:pPr algn="ctr"/>
                      <a:r>
                        <a:rPr sz="1300" b="0">
                          <a:solidFill>
                            <a:srgbClr val="1A1A1A"/>
                          </a:solidFill>
                          <a:latin typeface="Times New Roman"/>
                        </a:rPr>
                        <a:t>-4.05</a:t>
                      </a:r>
                    </a:p>
                  </a:txBody>
                  <a:tcPr anchor="ctr" marL="45720" marR="45720" marT="18288" marB="18288">
                    <a:solidFill>
                      <a:srgbClr val="FFFFFF"/>
                    </a:solidFill>
                  </a:tcPr>
                </a:tc>
              </a:tr>
              <a:tr h="342900">
                <a:tc>
                  <a:txBody>
                    <a:bodyPr wrap="square"/>
                    <a:lstStyle/>
                    <a:p>
                      <a:pPr algn="l"/>
                      <a:r>
                        <a:rPr sz="1300" b="0">
                          <a:solidFill>
                            <a:srgbClr val="1A1A1A"/>
                          </a:solidFill>
                          <a:latin typeface="Times New Roman"/>
                        </a:rPr>
                        <a:t>Worst 1% daily loss, using normal curve (%)</a:t>
                      </a:r>
                    </a:p>
                  </a:txBody>
                  <a:tcPr anchor="ctr" marL="45720" marR="45720" marT="18288" marB="18288">
                    <a:solidFill>
                      <a:srgbClr val="EEF1F7"/>
                    </a:solidFill>
                  </a:tcPr>
                </a:tc>
                <a:tc>
                  <a:txBody>
                    <a:bodyPr wrap="square"/>
                    <a:lstStyle/>
                    <a:p>
                      <a:pPr algn="ctr"/>
                      <a:r>
                        <a:rPr sz="1300" b="0">
                          <a:solidFill>
                            <a:srgbClr val="1A1A1A"/>
                          </a:solidFill>
                          <a:latin typeface="Times New Roman"/>
                        </a:rPr>
                        <a:t>-2.98</a:t>
                      </a:r>
                    </a:p>
                  </a:txBody>
                  <a:tcPr anchor="ctr" marL="45720" marR="45720" marT="18288" marB="18288">
                    <a:solidFill>
                      <a:srgbClr val="EEF1F7"/>
                    </a:solidFill>
                  </a:tcPr>
                </a:tc>
                <a:tc>
                  <a:txBody>
                    <a:bodyPr wrap="square"/>
                    <a:lstStyle/>
                    <a:p>
                      <a:pPr algn="ctr"/>
                      <a:r>
                        <a:rPr sz="1300" b="0">
                          <a:solidFill>
                            <a:srgbClr val="1A1A1A"/>
                          </a:solidFill>
                          <a:latin typeface="Times New Roman"/>
                        </a:rPr>
                        <a:t>-3.15</a:t>
                      </a:r>
                    </a:p>
                  </a:txBody>
                  <a:tcPr anchor="ctr" marL="45720" marR="45720" marT="18288" marB="18288">
                    <a:solidFill>
                      <a:srgbClr val="EEF1F7"/>
                    </a:solidFill>
                  </a:tcPr>
                </a:tc>
              </a:tr>
              <a:tr h="342900">
                <a:tc>
                  <a:txBody>
                    <a:bodyPr wrap="square"/>
                    <a:lstStyle/>
                    <a:p>
                      <a:pPr algn="l"/>
                      <a:r>
                        <a:rPr sz="1300" b="0">
                          <a:solidFill>
                            <a:srgbClr val="1A1A1A"/>
                          </a:solidFill>
                          <a:latin typeface="Times New Roman"/>
                        </a:rPr>
                        <a:t>Average loss on such bad days (%)</a:t>
                      </a:r>
                    </a:p>
                  </a:txBody>
                  <a:tcPr anchor="ctr" marL="45720" marR="45720" marT="18288" marB="18288">
                    <a:solidFill>
                      <a:srgbClr val="FFFFFF"/>
                    </a:solidFill>
                  </a:tcPr>
                </a:tc>
                <a:tc>
                  <a:txBody>
                    <a:bodyPr wrap="square"/>
                    <a:lstStyle/>
                    <a:p>
                      <a:pPr algn="ctr"/>
                      <a:r>
                        <a:rPr sz="1300" b="0">
                          <a:solidFill>
                            <a:srgbClr val="1A1A1A"/>
                          </a:solidFill>
                          <a:latin typeface="Times New Roman"/>
                        </a:rPr>
                        <a:t>-5.46</a:t>
                      </a:r>
                    </a:p>
                  </a:txBody>
                  <a:tcPr anchor="ctr" marL="45720" marR="45720" marT="18288" marB="18288">
                    <a:solidFill>
                      <a:srgbClr val="FFFFFF"/>
                    </a:solidFill>
                  </a:tcPr>
                </a:tc>
                <a:tc>
                  <a:txBody>
                    <a:bodyPr wrap="square"/>
                    <a:lstStyle/>
                    <a:p>
                      <a:pPr algn="ctr"/>
                      <a:r>
                        <a:rPr sz="1300" b="0">
                          <a:solidFill>
                            <a:srgbClr val="1A1A1A"/>
                          </a:solidFill>
                          <a:latin typeface="Times New Roman"/>
                        </a:rPr>
                        <a:t>-5.69</a:t>
                      </a:r>
                    </a:p>
                  </a:txBody>
                  <a:tcPr anchor="ctr" marL="45720" marR="45720" marT="18288" marB="18288">
                    <a:solidFill>
                      <a:srgbClr val="FFFFFF"/>
                    </a:solidFill>
                  </a:tcPr>
                </a:tc>
              </a:tr>
              <a:tr h="342900">
                <a:tc>
                  <a:txBody>
                    <a:bodyPr wrap="square"/>
                    <a:lstStyle/>
                    <a:p>
                      <a:pPr algn="l"/>
                      <a:r>
                        <a:rPr sz="1300" b="0">
                          <a:solidFill>
                            <a:srgbClr val="1A1A1A"/>
                          </a:solidFill>
                          <a:latin typeface="Times New Roman"/>
                        </a:rPr>
                        <a:t>Times this limit was crossed</a:t>
                      </a:r>
                    </a:p>
                  </a:txBody>
                  <a:tcPr anchor="ctr" marL="45720" marR="45720" marT="18288" marB="18288">
                    <a:solidFill>
                      <a:srgbClr val="EEF1F7"/>
                    </a:solidFill>
                  </a:tcPr>
                </a:tc>
                <a:tc>
                  <a:txBody>
                    <a:bodyPr wrap="square"/>
                    <a:lstStyle/>
                    <a:p>
                      <a:pPr algn="ctr"/>
                      <a:r>
                        <a:rPr sz="1300" b="0">
                          <a:solidFill>
                            <a:srgbClr val="1A1A1A"/>
                          </a:solidFill>
                          <a:latin typeface="Times New Roman"/>
                        </a:rPr>
                        <a:t>82</a:t>
                      </a:r>
                    </a:p>
                  </a:txBody>
                  <a:tcPr anchor="ctr" marL="45720" marR="45720" marT="18288" marB="18288">
                    <a:solidFill>
                      <a:srgbClr val="EEF1F7"/>
                    </a:solidFill>
                  </a:tcPr>
                </a:tc>
                <a:tc>
                  <a:txBody>
                    <a:bodyPr wrap="square"/>
                    <a:lstStyle/>
                    <a:p>
                      <a:pPr algn="ctr"/>
                      <a:r>
                        <a:rPr sz="1300" b="0">
                          <a:solidFill>
                            <a:srgbClr val="1A1A1A"/>
                          </a:solidFill>
                          <a:latin typeface="Times New Roman"/>
                        </a:rPr>
                        <a:t>134</a:t>
                      </a:r>
                    </a:p>
                  </a:txBody>
                  <a:tcPr anchor="ctr" marL="45720" marR="45720" marT="18288" marB="18288">
                    <a:solidFill>
                      <a:srgbClr val="EEF1F7"/>
                    </a:solidFill>
                  </a:tcPr>
                </a:tc>
              </a:tr>
              <a:tr h="342900">
                <a:tc>
                  <a:txBody>
                    <a:bodyPr wrap="square"/>
                    <a:lstStyle/>
                    <a:p>
                      <a:pPr algn="l"/>
                      <a:r>
                        <a:rPr sz="1300" b="0">
                          <a:solidFill>
                            <a:srgbClr val="1A1A1A"/>
                          </a:solidFill>
                          <a:latin typeface="Times New Roman"/>
                        </a:rPr>
                        <a:t>Times it should have been crossed</a:t>
                      </a:r>
                    </a:p>
                  </a:txBody>
                  <a:tcPr anchor="ctr" marL="45720" marR="45720" marT="18288" marB="18288">
                    <a:solidFill>
                      <a:srgbClr val="FFFFFF"/>
                    </a:solidFill>
                  </a:tcPr>
                </a:tc>
                <a:tc>
                  <a:txBody>
                    <a:bodyPr wrap="square"/>
                    <a:lstStyle/>
                    <a:p>
                      <a:pPr algn="ctr"/>
                      <a:r>
                        <a:rPr sz="1300" b="0">
                          <a:solidFill>
                            <a:srgbClr val="1A1A1A"/>
                          </a:solidFill>
                          <a:latin typeface="Times New Roman"/>
                        </a:rPr>
                        <a:t>46</a:t>
                      </a:r>
                    </a:p>
                  </a:txBody>
                  <a:tcPr anchor="ctr" marL="45720" marR="45720" marT="18288" marB="18288">
                    <a:solidFill>
                      <a:srgbClr val="FFFFFF"/>
                    </a:solidFill>
                  </a:tcPr>
                </a:tc>
                <a:tc>
                  <a:txBody>
                    <a:bodyPr wrap="square"/>
                    <a:lstStyle/>
                    <a:p>
                      <a:pPr algn="ctr"/>
                      <a:r>
                        <a:rPr sz="1300" b="0">
                          <a:solidFill>
                            <a:srgbClr val="1A1A1A"/>
                          </a:solidFill>
                          <a:latin typeface="Times New Roman"/>
                        </a:rPr>
                        <a:t>66</a:t>
                      </a:r>
                    </a:p>
                  </a:txBody>
                  <a:tcPr anchor="ctr" marL="45720" marR="45720" marT="18288" marB="18288">
                    <a:solidFill>
                      <a:srgbClr val="FFFFFF"/>
                    </a:solidFill>
                  </a:tcPr>
                </a:tc>
              </a:tr>
              <a:tr h="342900">
                <a:tc>
                  <a:txBody>
                    <a:bodyPr wrap="square"/>
                    <a:lstStyle/>
                    <a:p>
                      <a:pPr algn="l"/>
                      <a:r>
                        <a:rPr sz="1300" b="0">
                          <a:solidFill>
                            <a:srgbClr val="1A1A1A"/>
                          </a:solidFill>
                          <a:latin typeface="Times New Roman"/>
                        </a:rPr>
                        <a:t>Biggest fall from a peak (%)</a:t>
                      </a:r>
                    </a:p>
                  </a:txBody>
                  <a:tcPr anchor="ctr" marL="45720" marR="45720" marT="18288" marB="18288">
                    <a:solidFill>
                      <a:srgbClr val="EEF1F7"/>
                    </a:solidFill>
                  </a:tcPr>
                </a:tc>
                <a:tc>
                  <a:txBody>
                    <a:bodyPr wrap="square"/>
                    <a:lstStyle/>
                    <a:p>
                      <a:pPr algn="ctr"/>
                      <a:r>
                        <a:rPr sz="1300" b="0">
                          <a:solidFill>
                            <a:srgbClr val="1A1A1A"/>
                          </a:solidFill>
                          <a:latin typeface="Times New Roman"/>
                        </a:rPr>
                        <a:t>-59.9</a:t>
                      </a:r>
                    </a:p>
                  </a:txBody>
                  <a:tcPr anchor="ctr" marL="45720" marR="45720" marT="18288" marB="18288">
                    <a:solidFill>
                      <a:srgbClr val="EEF1F7"/>
                    </a:solidFill>
                  </a:tcPr>
                </a:tc>
                <a:tc>
                  <a:txBody>
                    <a:bodyPr wrap="square"/>
                    <a:lstStyle/>
                    <a:p>
                      <a:pPr algn="ctr"/>
                      <a:r>
                        <a:rPr sz="1300" b="0">
                          <a:solidFill>
                            <a:srgbClr val="1A1A1A"/>
                          </a:solidFill>
                          <a:latin typeface="Times New Roman"/>
                        </a:rPr>
                        <a:t>-60.9</a:t>
                      </a:r>
                    </a:p>
                  </a:txBody>
                  <a:tcPr anchor="ctr" marL="45720" marR="45720" marT="18288" marB="18288">
                    <a:solidFill>
                      <a:srgbClr val="EEF1F7"/>
                    </a:solidFill>
                  </a:tcPr>
                </a:tc>
              </a:tr>
              <a:tr h="342900">
                <a:tc>
                  <a:txBody>
                    <a:bodyPr wrap="square"/>
                    <a:lstStyle/>
                    <a:p>
                      <a:pPr algn="l"/>
                      <a:r>
                        <a:rPr sz="1300" b="0">
                          <a:solidFill>
                            <a:srgbClr val="1A1A1A"/>
                          </a:solidFill>
                          <a:latin typeface="Times New Roman"/>
                        </a:rPr>
                        <a:t>Days taken to recover from it</a:t>
                      </a:r>
                    </a:p>
                  </a:txBody>
                  <a:tcPr anchor="ctr" marL="45720" marR="45720" marT="18288" marB="18288">
                    <a:solidFill>
                      <a:srgbClr val="FFFFFF"/>
                    </a:solidFill>
                  </a:tcPr>
                </a:tc>
                <a:tc>
                  <a:txBody>
                    <a:bodyPr wrap="square"/>
                    <a:lstStyle/>
                    <a:p>
                      <a:pPr algn="ctr"/>
                      <a:r>
                        <a:rPr sz="1300" b="0">
                          <a:solidFill>
                            <a:srgbClr val="1A1A1A"/>
                          </a:solidFill>
                          <a:latin typeface="Times New Roman"/>
                        </a:rPr>
                        <a:t>1,036</a:t>
                      </a:r>
                    </a:p>
                  </a:txBody>
                  <a:tcPr anchor="ctr" marL="45720" marR="45720" marT="18288" marB="18288">
                    <a:solidFill>
                      <a:srgbClr val="FFFFFF"/>
                    </a:solidFill>
                  </a:tcPr>
                </a:tc>
                <a:tc>
                  <a:txBody>
                    <a:bodyPr wrap="square"/>
                    <a:lstStyle/>
                    <a:p>
                      <a:pPr algn="ctr"/>
                      <a:r>
                        <a:rPr sz="1300" b="0">
                          <a:solidFill>
                            <a:srgbClr val="1A1A1A"/>
                          </a:solidFill>
                          <a:latin typeface="Times New Roman"/>
                        </a:rPr>
                        <a:t>1,031</a:t>
                      </a:r>
                    </a:p>
                  </a:txBody>
                  <a:tcPr anchor="ctr" marL="45720" marR="45720" marT="18288" marB="18288">
                    <a:solidFill>
                      <a:srgbClr val="FFFFFF"/>
                    </a:solidFill>
                  </a:tcPr>
                </a:tc>
              </a:tr>
            </a:tbl>
          </a:graphicData>
        </a:graphic>
      </p:graphicFrame>
      <p:sp>
        <p:nvSpPr>
          <p:cNvPr id="5" name="TextBox 4"/>
          <p:cNvSpPr txBox="1"/>
          <p:nvPr/>
        </p:nvSpPr>
        <p:spPr>
          <a:xfrm>
            <a:off x="1600200" y="4419600"/>
            <a:ext cx="8991600" cy="1400000"/>
          </a:xfrm>
          <a:prstGeom prst="rect">
            <a:avLst/>
          </a:prstGeom>
          <a:noFill/>
        </p:spPr>
        <p:txBody>
          <a:bodyPr wrap="square">
            <a:spAutoFit/>
          </a:bodyPr>
          <a:lstStyle/>
          <a:p>
            <a:pPr algn="just">
              <a:lnSpc>
                <a:spcPct val="105000"/>
              </a:lnSpc>
              <a:spcBef>
                <a:spcPts val="0"/>
              </a:spcBef>
              <a:spcAft>
                <a:spcPts val="0"/>
              </a:spcAft>
            </a:pPr>
            <a:r>
              <a:rPr sz="1500" b="1">
                <a:solidFill>
                  <a:srgbClr val="001F5F"/>
                </a:solidFill>
                <a:latin typeface="Times New Roman"/>
              </a:rPr>
              <a:t>▪  </a:t>
            </a:r>
            <a:r>
              <a:rPr sz="1500" b="0">
                <a:solidFill>
                  <a:srgbClr val="1A1A1A"/>
                </a:solidFill>
                <a:latin typeface="Times New Roman"/>
              </a:rPr>
              <a:t>The loss limit based on the normal curve was crossed 82 times when it should have been crossed only about 46 times.</a:t>
            </a:r>
          </a:p>
          <a:p>
            <a:pPr algn="just">
              <a:lnSpc>
                <a:spcPct val="105000"/>
              </a:lnSpc>
              <a:spcBef>
                <a:spcPts val="1200"/>
              </a:spcBef>
              <a:spcAft>
                <a:spcPts val="0"/>
              </a:spcAft>
            </a:pPr>
            <a:r>
              <a:rPr sz="1500" b="1">
                <a:solidFill>
                  <a:srgbClr val="001F5F"/>
                </a:solidFill>
                <a:latin typeface="Times New Roman"/>
              </a:rPr>
              <a:t>▪  </a:t>
            </a:r>
            <a:r>
              <a:rPr sz="1500" b="0">
                <a:solidFill>
                  <a:srgbClr val="1A1A1A"/>
                </a:solidFill>
                <a:latin typeface="Times New Roman"/>
              </a:rPr>
              <a:t>The largest fall was 59.9 per cent and it took about 2.8 years to come back to the old level.</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512064"/>
            <a:ext cx="11094720" cy="594360"/>
          </a:xfrm>
          <a:prstGeom prst="rect">
            <a:avLst/>
          </a:prstGeom>
          <a:noFill/>
        </p:spPr>
        <p:txBody>
          <a:bodyPr wrap="square" anchor="ctr">
            <a:spAutoFit/>
          </a:bodyPr>
          <a:lstStyle/>
          <a:p>
            <a:r>
              <a:rPr sz="3000" b="1">
                <a:solidFill>
                  <a:srgbClr val="001F5F"/>
                </a:solidFill>
                <a:latin typeface="Times New Roman"/>
              </a:rPr>
              <a:t>Conclusion and Future Work</a:t>
            </a:r>
          </a:p>
        </p:txBody>
      </p:sp>
      <p:sp>
        <p:nvSpPr>
          <p:cNvPr id="3" name="Rectangle 2"/>
          <p:cNvSpPr/>
          <p:nvPr/>
        </p:nvSpPr>
        <p:spPr>
          <a:xfrm>
            <a:off x="548640" y="1143000"/>
            <a:ext cx="2200000" cy="38100"/>
          </a:xfrm>
          <a:prstGeom prst="rect">
            <a:avLst/>
          </a:prstGeom>
          <a:solidFill>
            <a:srgbClr val="8C1D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310640"/>
            <a:ext cx="11094720" cy="4480560"/>
          </a:xfrm>
          <a:prstGeom prst="rect">
            <a:avLst/>
          </a:prstGeom>
          <a:noFill/>
        </p:spPr>
        <p:txBody>
          <a:bodyPr wrap="square">
            <a:spAutoFit/>
          </a:bodyPr>
          <a:lstStyle/>
          <a:p>
            <a:pPr algn="just">
              <a:lnSpc>
                <a:spcPct val="105000"/>
              </a:lnSpc>
              <a:spcBef>
                <a:spcPts val="0"/>
              </a:spcBef>
              <a:spcAft>
                <a:spcPts val="0"/>
              </a:spcAft>
            </a:pPr>
            <a:r>
              <a:rPr sz="1600" b="1">
                <a:solidFill>
                  <a:srgbClr val="001F5F"/>
                </a:solidFill>
                <a:latin typeface="Times New Roman"/>
              </a:rPr>
              <a:t>▪  </a:t>
            </a:r>
            <a:r>
              <a:rPr sz="1600" b="1">
                <a:solidFill>
                  <a:srgbClr val="001F5F"/>
                </a:solidFill>
                <a:latin typeface="Times New Roman"/>
              </a:rPr>
              <a:t>Result:  </a:t>
            </a:r>
            <a:r>
              <a:rPr sz="1600" b="0">
                <a:solidFill>
                  <a:srgbClr val="1A1A1A"/>
                </a:solidFill>
                <a:latin typeface="Times New Roman"/>
              </a:rPr>
              <a:t>returns do not follow a normal curve, the direction of the market cannot be predicted, but big moves come together and can be modelled with GARCH(1,1).</a:t>
            </a:r>
          </a:p>
          <a:p>
            <a:pPr algn="just">
              <a:lnSpc>
                <a:spcPct val="105000"/>
              </a:lnSpc>
              <a:spcBef>
                <a:spcPts val="1400"/>
              </a:spcBef>
              <a:spcAft>
                <a:spcPts val="0"/>
              </a:spcAft>
            </a:pPr>
            <a:r>
              <a:rPr sz="1600" b="1">
                <a:solidFill>
                  <a:srgbClr val="001F5F"/>
                </a:solidFill>
                <a:latin typeface="Times New Roman"/>
              </a:rPr>
              <a:t>▪  </a:t>
            </a:r>
            <a:r>
              <a:rPr sz="1600" b="1">
                <a:solidFill>
                  <a:srgbClr val="001F5F"/>
                </a:solidFill>
                <a:latin typeface="Times New Roman"/>
              </a:rPr>
              <a:t>Meaning:  </a:t>
            </a:r>
            <a:r>
              <a:rPr sz="1600" b="0">
                <a:solidFill>
                  <a:srgbClr val="1A1A1A"/>
                </a:solidFill>
                <a:latin typeface="Times New Roman"/>
              </a:rPr>
              <a:t>the part everyone tries to guess, that is the direction, cannot be guessed. The part most people treat as fixed, that is the risk, is the part that can be predicted.</a:t>
            </a:r>
          </a:p>
          <a:p>
            <a:pPr algn="just">
              <a:lnSpc>
                <a:spcPct val="105000"/>
              </a:lnSpc>
              <a:spcBef>
                <a:spcPts val="1400"/>
              </a:spcBef>
              <a:spcAft>
                <a:spcPts val="0"/>
              </a:spcAft>
            </a:pPr>
            <a:r>
              <a:rPr sz="1600" b="1">
                <a:solidFill>
                  <a:srgbClr val="001F5F"/>
                </a:solidFill>
                <a:latin typeface="Times New Roman"/>
              </a:rPr>
              <a:t>▪  </a:t>
            </a:r>
            <a:r>
              <a:rPr sz="1600" b="1">
                <a:solidFill>
                  <a:srgbClr val="001F5F"/>
                </a:solidFill>
                <a:latin typeface="Times New Roman"/>
              </a:rPr>
              <a:t>Limits:  </a:t>
            </a:r>
            <a:r>
              <a:rPr sz="1600" b="0">
                <a:solidFill>
                  <a:srgbClr val="1A1A1A"/>
                </a:solidFill>
                <a:latin typeface="Times New Roman"/>
              </a:rPr>
              <a:t>dividends are not included, the model treats a rise and a fall as the same, and one set of values is used for the whole period.</a:t>
            </a:r>
          </a:p>
          <a:p>
            <a:pPr algn="just">
              <a:lnSpc>
                <a:spcPct val="105000"/>
              </a:lnSpc>
              <a:spcBef>
                <a:spcPts val="1400"/>
              </a:spcBef>
              <a:spcAft>
                <a:spcPts val="0"/>
              </a:spcAft>
            </a:pPr>
            <a:r>
              <a:rPr sz="1600" b="1">
                <a:solidFill>
                  <a:srgbClr val="001F5F"/>
                </a:solidFill>
                <a:latin typeface="Times New Roman"/>
              </a:rPr>
              <a:t>▪  </a:t>
            </a:r>
            <a:r>
              <a:rPr sz="1600" b="1">
                <a:solidFill>
                  <a:srgbClr val="001F5F"/>
                </a:solidFill>
                <a:latin typeface="Times New Roman"/>
              </a:rPr>
              <a:t>Future work:  </a:t>
            </a:r>
            <a:r>
              <a:rPr sz="1600" b="0">
                <a:solidFill>
                  <a:srgbClr val="1A1A1A"/>
                </a:solidFill>
                <a:latin typeface="Times New Roman"/>
              </a:rPr>
              <a:t>use the EGARCH model to handle rises and falls differently, use a Student-t curve instead of the normal curve, and run the same tests on sector indexes.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512064"/>
            <a:ext cx="11094720" cy="594360"/>
          </a:xfrm>
          <a:prstGeom prst="rect">
            <a:avLst/>
          </a:prstGeom>
          <a:noFill/>
        </p:spPr>
        <p:txBody>
          <a:bodyPr wrap="square" anchor="ctr">
            <a:spAutoFit/>
          </a:bodyPr>
          <a:lstStyle/>
          <a:p>
            <a:r>
              <a:rPr sz="3000" b="1">
                <a:solidFill>
                  <a:srgbClr val="001F5F"/>
                </a:solidFill>
                <a:latin typeface="Times New Roman"/>
              </a:rPr>
              <a:t>References</a:t>
            </a:r>
          </a:p>
        </p:txBody>
      </p:sp>
      <p:sp>
        <p:nvSpPr>
          <p:cNvPr id="3" name="Rectangle 2"/>
          <p:cNvSpPr/>
          <p:nvPr/>
        </p:nvSpPr>
        <p:spPr>
          <a:xfrm>
            <a:off x="548640" y="1143000"/>
            <a:ext cx="2200000" cy="38100"/>
          </a:xfrm>
          <a:prstGeom prst="rect">
            <a:avLst/>
          </a:prstGeom>
          <a:solidFill>
            <a:srgbClr val="8C1D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310640"/>
            <a:ext cx="11094720" cy="4480560"/>
          </a:xfrm>
          <a:prstGeom prst="rect">
            <a:avLst/>
          </a:prstGeom>
          <a:noFill/>
        </p:spPr>
        <p:txBody>
          <a:bodyPr wrap="square">
            <a:spAutoFit/>
          </a:bodyPr>
          <a:lstStyle/>
          <a:p>
            <a:pPr algn="just">
              <a:lnSpc>
                <a:spcPct val="102000"/>
              </a:lnSpc>
              <a:spcBef>
                <a:spcPts val="0"/>
              </a:spcBef>
              <a:spcAft>
                <a:spcPts val="0"/>
              </a:spcAft>
            </a:pPr>
            <a:r>
              <a:rPr sz="1250" b="1">
                <a:solidFill>
                  <a:srgbClr val="001F5F"/>
                </a:solidFill>
                <a:latin typeface="Times New Roman"/>
              </a:rPr>
              <a:t>[1]  </a:t>
            </a:r>
            <a:r>
              <a:rPr sz="1250">
                <a:solidFill>
                  <a:srgbClr val="1A1A1A"/>
                </a:solidFill>
                <a:latin typeface="Times New Roman"/>
              </a:rPr>
              <a:t>R. F. Engle, "Autoregressive conditional heteroscedasticity with estimates of the variance of United Kingdom inflation," Econometrica, vol. 50, no. 4, pp. 987-1007, 1982.</a:t>
            </a:r>
          </a:p>
          <a:p>
            <a:pPr algn="just">
              <a:lnSpc>
                <a:spcPct val="102000"/>
              </a:lnSpc>
              <a:spcBef>
                <a:spcPts val="700"/>
              </a:spcBef>
              <a:spcAft>
                <a:spcPts val="0"/>
              </a:spcAft>
            </a:pPr>
            <a:r>
              <a:rPr sz="1250" b="1">
                <a:solidFill>
                  <a:srgbClr val="001F5F"/>
                </a:solidFill>
                <a:latin typeface="Times New Roman"/>
              </a:rPr>
              <a:t>[2]  </a:t>
            </a:r>
            <a:r>
              <a:rPr sz="1250">
                <a:solidFill>
                  <a:srgbClr val="1A1A1A"/>
                </a:solidFill>
                <a:latin typeface="Times New Roman"/>
              </a:rPr>
              <a:t>T. Bollerslev, "Generalized autoregressive conditional heteroskedasticity," Journal of Econometrics, vol. 31, no. 3, pp. 307-327, 1986.</a:t>
            </a:r>
          </a:p>
          <a:p>
            <a:pPr algn="just">
              <a:lnSpc>
                <a:spcPct val="102000"/>
              </a:lnSpc>
              <a:spcBef>
                <a:spcPts val="700"/>
              </a:spcBef>
              <a:spcAft>
                <a:spcPts val="0"/>
              </a:spcAft>
            </a:pPr>
            <a:r>
              <a:rPr sz="1250" b="1">
                <a:solidFill>
                  <a:srgbClr val="001F5F"/>
                </a:solidFill>
                <a:latin typeface="Times New Roman"/>
              </a:rPr>
              <a:t>[3]  </a:t>
            </a:r>
            <a:r>
              <a:rPr sz="1250">
                <a:solidFill>
                  <a:srgbClr val="1A1A1A"/>
                </a:solidFill>
                <a:latin typeface="Times New Roman"/>
              </a:rPr>
              <a:t>D. B. Nelson, "Conditional heteroskedasticity in asset returns: a new approach," Econometrica, vol. 59, no. 2, pp. 347-370, 1991.</a:t>
            </a:r>
          </a:p>
          <a:p>
            <a:pPr algn="just">
              <a:lnSpc>
                <a:spcPct val="102000"/>
              </a:lnSpc>
              <a:spcBef>
                <a:spcPts val="700"/>
              </a:spcBef>
              <a:spcAft>
                <a:spcPts val="0"/>
              </a:spcAft>
            </a:pPr>
            <a:r>
              <a:rPr sz="1250" b="1">
                <a:solidFill>
                  <a:srgbClr val="001F5F"/>
                </a:solidFill>
                <a:latin typeface="Times New Roman"/>
              </a:rPr>
              <a:t>[4]  </a:t>
            </a:r>
            <a:r>
              <a:rPr sz="1250">
                <a:solidFill>
                  <a:srgbClr val="1A1A1A"/>
                </a:solidFill>
                <a:latin typeface="Times New Roman"/>
              </a:rPr>
              <a:t>D. A. Dickey and W. A. Fuller, "Distribution of the estimators for autoregressive time series with a unit root," JASA, vol. 74, no. 366, pp. 427-431, 1979.</a:t>
            </a:r>
          </a:p>
          <a:p>
            <a:pPr algn="just">
              <a:lnSpc>
                <a:spcPct val="102000"/>
              </a:lnSpc>
              <a:spcBef>
                <a:spcPts val="700"/>
              </a:spcBef>
              <a:spcAft>
                <a:spcPts val="0"/>
              </a:spcAft>
            </a:pPr>
            <a:r>
              <a:rPr sz="1250" b="1">
                <a:solidFill>
                  <a:srgbClr val="001F5F"/>
                </a:solidFill>
                <a:latin typeface="Times New Roman"/>
              </a:rPr>
              <a:t>[5]  </a:t>
            </a:r>
            <a:r>
              <a:rPr sz="1250">
                <a:solidFill>
                  <a:srgbClr val="1A1A1A"/>
                </a:solidFill>
                <a:latin typeface="Times New Roman"/>
              </a:rPr>
              <a:t>E. F. Fama, "Efficient capital markets: a review of theory and empirical work," Journal of Finance, vol. 25, no. 2, pp. 383-417, 1970.</a:t>
            </a:r>
          </a:p>
          <a:p>
            <a:pPr algn="just">
              <a:lnSpc>
                <a:spcPct val="102000"/>
              </a:lnSpc>
              <a:spcBef>
                <a:spcPts val="700"/>
              </a:spcBef>
              <a:spcAft>
                <a:spcPts val="0"/>
              </a:spcAft>
            </a:pPr>
            <a:r>
              <a:rPr sz="1250" b="1">
                <a:solidFill>
                  <a:srgbClr val="001F5F"/>
                </a:solidFill>
                <a:latin typeface="Times New Roman"/>
              </a:rPr>
              <a:t>[6]  </a:t>
            </a:r>
            <a:r>
              <a:rPr sz="1250">
                <a:solidFill>
                  <a:srgbClr val="1A1A1A"/>
                </a:solidFill>
                <a:latin typeface="Times New Roman"/>
              </a:rPr>
              <a:t>A. W. Lo and A. C. MacKinlay, "Stock market prices do not follow random walks," Review of Financial Studies, vol. 1, no. 1, pp. 41-66, 1988.</a:t>
            </a:r>
          </a:p>
          <a:p>
            <a:pPr algn="just">
              <a:lnSpc>
                <a:spcPct val="102000"/>
              </a:lnSpc>
              <a:spcBef>
                <a:spcPts val="700"/>
              </a:spcBef>
              <a:spcAft>
                <a:spcPts val="0"/>
              </a:spcAft>
            </a:pPr>
            <a:r>
              <a:rPr sz="1250" b="1">
                <a:solidFill>
                  <a:srgbClr val="001F5F"/>
                </a:solidFill>
                <a:latin typeface="Times New Roman"/>
              </a:rPr>
              <a:t>[7]  </a:t>
            </a:r>
            <a:r>
              <a:rPr sz="1250">
                <a:solidFill>
                  <a:srgbClr val="1A1A1A"/>
                </a:solidFill>
                <a:latin typeface="Times New Roman"/>
              </a:rPr>
              <a:t>G. M. Ljung and G. E. P. Box, "On a measure of lack of fit in time series models," Biometrika, vol. 65, no. 2, pp. 297-303, 1978.</a:t>
            </a:r>
          </a:p>
          <a:p>
            <a:pPr algn="just">
              <a:lnSpc>
                <a:spcPct val="102000"/>
              </a:lnSpc>
              <a:spcBef>
                <a:spcPts val="700"/>
              </a:spcBef>
              <a:spcAft>
                <a:spcPts val="0"/>
              </a:spcAft>
            </a:pPr>
            <a:r>
              <a:rPr sz="1250" b="1">
                <a:solidFill>
                  <a:srgbClr val="001F5F"/>
                </a:solidFill>
                <a:latin typeface="Times New Roman"/>
              </a:rPr>
              <a:t>[8]  </a:t>
            </a:r>
            <a:r>
              <a:rPr sz="1250">
                <a:solidFill>
                  <a:srgbClr val="1A1A1A"/>
                </a:solidFill>
                <a:latin typeface="Times New Roman"/>
              </a:rPr>
              <a:t>P. Srinivasan and P. Ibrahim, "Forecasting stock market volatility of BSE-30 index using GARCH models," Asia-Pacific Business Review, vol. 6, no. 3, 2010.</a:t>
            </a:r>
          </a:p>
          <a:p>
            <a:pPr algn="just">
              <a:lnSpc>
                <a:spcPct val="102000"/>
              </a:lnSpc>
              <a:spcBef>
                <a:spcPts val="700"/>
              </a:spcBef>
              <a:spcAft>
                <a:spcPts val="0"/>
              </a:spcAft>
            </a:pPr>
            <a:r>
              <a:rPr sz="1250" b="1">
                <a:solidFill>
                  <a:srgbClr val="001F5F"/>
                </a:solidFill>
                <a:latin typeface="Times New Roman"/>
              </a:rPr>
              <a:t>[9]  </a:t>
            </a:r>
            <a:r>
              <a:rPr sz="1250">
                <a:solidFill>
                  <a:srgbClr val="1A1A1A"/>
                </a:solidFill>
                <a:latin typeface="Times New Roman"/>
              </a:rPr>
              <a:t>V. Mahajan, S. Thakan and A. Malik, "Modeling and forecasting the volatility of NIFTY 50 using GARCH and RNN models," Economies, vol. 10, no. 5, art. 102, 2022.</a:t>
            </a:r>
          </a:p>
          <a:p>
            <a:pPr algn="just">
              <a:lnSpc>
                <a:spcPct val="102000"/>
              </a:lnSpc>
              <a:spcBef>
                <a:spcPts val="700"/>
              </a:spcBef>
              <a:spcAft>
                <a:spcPts val="0"/>
              </a:spcAft>
            </a:pPr>
            <a:r>
              <a:rPr sz="1250" b="1">
                <a:solidFill>
                  <a:srgbClr val="001F5F"/>
                </a:solidFill>
                <a:latin typeface="Times New Roman"/>
              </a:rPr>
              <a:t>[10]  </a:t>
            </a:r>
            <a:r>
              <a:rPr sz="1250">
                <a:solidFill>
                  <a:srgbClr val="1A1A1A"/>
                </a:solidFill>
                <a:latin typeface="Times New Roman"/>
              </a:rPr>
              <a:t>A. Satapathy, "Test of random walk hypothesis in Indian stock market," Global Business Review, 2025.</a:t>
            </a:r>
          </a:p>
          <a:p>
            <a:pPr algn="just">
              <a:lnSpc>
                <a:spcPct val="102000"/>
              </a:lnSpc>
              <a:spcBef>
                <a:spcPts val="700"/>
              </a:spcBef>
              <a:spcAft>
                <a:spcPts val="0"/>
              </a:spcAft>
            </a:pPr>
            <a:r>
              <a:rPr sz="1250" b="1">
                <a:solidFill>
                  <a:srgbClr val="001F5F"/>
                </a:solidFill>
                <a:latin typeface="Times New Roman"/>
              </a:rPr>
              <a:t>[11]  </a:t>
            </a:r>
            <a:r>
              <a:rPr sz="1250">
                <a:solidFill>
                  <a:srgbClr val="1A1A1A"/>
                </a:solidFill>
                <a:latin typeface="Times New Roman"/>
              </a:rPr>
              <a:t>A. Ghalanos, "rugarch," CRAN R package; J. A. Ryan and J. M. Ulrich, "quantmod," CRAN R package; R Core Team, Vienna. Data: www.nseindia.com, www.bseindia.com.</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143000" y="2600325"/>
            <a:ext cx="9906000" cy="914400"/>
          </a:xfrm>
          <a:prstGeom prst="rect">
            <a:avLst/>
          </a:prstGeom>
          <a:noFill/>
        </p:spPr>
        <p:txBody>
          <a:bodyPr wrap="square">
            <a:spAutoFit/>
          </a:bodyPr>
          <a:lstStyle/>
          <a:p>
            <a:pPr algn="ctr"/>
            <a:r>
              <a:rPr sz="4800" b="1">
                <a:solidFill>
                  <a:srgbClr val="001F5F"/>
                </a:solidFill>
                <a:latin typeface="Times New Roman"/>
              </a:rPr>
              <a:t>Thank You</a:t>
            </a:r>
          </a:p>
          <a:p>
            <a:pPr algn="ctr">
              <a:spcBef>
                <a:spcPts val="1800"/>
              </a:spcBef>
            </a:pPr>
            <a:r>
              <a:rPr sz="1600">
                <a:solidFill>
                  <a:srgbClr val="5A5A5A"/>
                </a:solidFill>
                <a:latin typeface="Times New Roman"/>
              </a:rPr>
              <a:t>Tanish Jagtap   |   Roll No. 58   |   PRN 23610060
Guide : Prof. Bhagyashree Gore</a:t>
            </a: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Arial"/>
        <a:cs typeface="Arial"/>
      </a:majorFont>
      <a:minorFont>
        <a:latin typeface="Arial"/>
        <a:ea typeface="Arial"/>
        <a:cs typeface="Arial"/>
      </a:minorFont>
    </a:fontScheme>
    <a:fmtScheme name="Office">
      <a:fillStyleLst>
        <a:solidFill>
          <a:schemeClr val="phClr"/>
        </a:solidFill>
        <a:gradFill>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gradFill>
        <a:gradFill>
          <a:gsLst>
            <a:gs pos="0">
              <a:schemeClr val="phClr">
                <a:tint val="80000"/>
                <a:satMod val="300000"/>
              </a:schemeClr>
            </a:gs>
            <a:gs pos="100000">
              <a:schemeClr val="phClr">
                <a:shade val="30000"/>
                <a:satMod val="200000"/>
              </a:schemeClr>
            </a:gs>
          </a:gsLst>
          <a:path path="circle"/>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Arial"/>
        <a:cs typeface="Arial"/>
      </a:majorFont>
      <a:minorFont>
        <a:latin typeface="Arial"/>
        <a:ea typeface="Arial"/>
        <a:cs typeface="Arial"/>
      </a:minorFont>
    </a:fontScheme>
    <a:fmtScheme name="Office">
      <a:fillStyleLst>
        <a:solidFill>
          <a:schemeClr val="phClr"/>
        </a:solidFill>
        <a:gradFill>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gradFill>
        <a:gradFill>
          <a:gsLst>
            <a:gs pos="0">
              <a:schemeClr val="phClr">
                <a:tint val="80000"/>
                <a:satMod val="300000"/>
              </a:schemeClr>
            </a:gs>
            <a:gs pos="100000">
              <a:schemeClr val="phClr">
                <a:shade val="30000"/>
                <a:satMod val="200000"/>
              </a:schemeClr>
            </a:gs>
          </a:gsLst>
          <a:path path="circle"/>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3993</Words>
  <Application>Microsoft Office PowerPoint</Application>
  <PresentationFormat>Widescreen</PresentationFormat>
  <Paragraphs>254</Paragraphs>
  <Slides>19</Slides>
  <Notes>19</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19</vt:i4>
      </vt:variant>
    </vt:vector>
  </HeadingPairs>
  <TitlesOfParts>
    <vt:vector size="24" baseType="lpstr">
      <vt:lpstr>Arial</vt:lpstr>
      <vt:lpstr>Arial Black</vt:lpstr>
      <vt:lpstr>Calibri</vt:lpstr>
      <vt:lpstr>Times New Roman</vt:lpstr>
      <vt:lpstr>Office Theme</vt:lpstr>
      <vt:lpstr>PowerPoint Presentation</vt:lpstr>
      <vt:lpstr>Introduction :</vt:lpstr>
      <vt:lpstr>Problem Statement : </vt:lpstr>
      <vt:lpstr>Objectives &amp; Expected Outcomes </vt:lpstr>
      <vt:lpstr>Existing System: </vt:lpstr>
      <vt:lpstr>Literature Review : </vt:lpstr>
      <vt:lpstr>Literature Review — Comparative Summary : </vt:lpstr>
      <vt:lpstr>Research Gap: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Admin-PC</dc:creator>
  <cp:lastModifiedBy>tanish jagtap</cp:lastModifiedBy>
  <cp:revision>42</cp:revision>
  <dcterms:created xsi:type="dcterms:W3CDTF">2023-01-12T11:12:30Z</dcterms:created>
  <dcterms:modified xsi:type="dcterms:W3CDTF">2026-08-16T19:06:49Z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2023-01-11T00:00:00Z</vt:filetime>
  </property>
  <property fmtid="{D5CDD505-2E9C-101B-9397-08002B2CF9AE}" pid="3" name="Creator">
    <vt:lpwstr>Microsoft® PowerPoint® 2016</vt:lpwstr>
  </property>
  <property fmtid="{D5CDD505-2E9C-101B-9397-08002B2CF9AE}" pid="4" name="LastSaved">
    <vt:filetime>2023-01-12T00:00:00Z</vt:filetime>
  </property>
</Properties>
</file>